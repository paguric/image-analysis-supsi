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9" roundtripDataSignature="AMtx7mjZjT+w7R2qiZxIBAUVYuE9Ehiq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8" name="Google Shape;4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f8b408c24_0_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360"/>
              </a:spcBef>
              <a:spcAft>
                <a:spcPts val="0"/>
              </a:spcAft>
              <a:buSzPts val="1400"/>
              <a:buChar char="-"/>
            </a:pPr>
            <a:r>
              <a:t/>
            </a:r>
            <a:endParaRPr/>
          </a:p>
        </p:txBody>
      </p:sp>
      <p:sp>
        <p:nvSpPr>
          <p:cNvPr id="70" name="Google Shape;70;g3cf8b408c24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7" name="Google Shape;7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f8b408c24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t/>
            </a:r>
            <a:endParaRPr/>
          </a:p>
        </p:txBody>
      </p:sp>
      <p:sp>
        <p:nvSpPr>
          <p:cNvPr id="88" name="Google Shape;88;g3cf8b408c2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0100df4ea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Per cominciare abbiamo ricercato online diversi algoritmi per blob, edge e contour detection,</a:t>
            </a:r>
            <a:endParaRPr/>
          </a:p>
          <a:p>
            <a:pPr indent="0" lvl="0" marL="0" rtl="0" algn="l">
              <a:lnSpc>
                <a:spcPct val="100000"/>
              </a:lnSpc>
              <a:spcBef>
                <a:spcPts val="360"/>
              </a:spcBef>
              <a:spcAft>
                <a:spcPts val="0"/>
              </a:spcAft>
              <a:buSzPts val="1400"/>
              <a:buNone/>
            </a:pPr>
            <a:r>
              <a:rPr lang="it-IT"/>
              <a:t>gantt e specifiche</a:t>
            </a:r>
            <a:endParaRPr/>
          </a:p>
          <a:p>
            <a:pPr indent="0" lvl="0" marL="0" rtl="0" algn="l">
              <a:lnSpc>
                <a:spcPct val="100000"/>
              </a:lnSpc>
              <a:spcBef>
                <a:spcPts val="360"/>
              </a:spcBef>
              <a:spcAft>
                <a:spcPts val="0"/>
              </a:spcAft>
              <a:buSzPts val="1400"/>
              <a:buNone/>
            </a:pPr>
            <a:r>
              <a:rPr lang="it-IT"/>
              <a:t>Durante le prime settimane abbiamo passato la maggior parte del tempo a cercare risorse online per cercare di farci un’idea il più precisa possibile di quali fossero i passi principali da fare, integrando  nello stato dell’arte i primi test. Dopo di che abbiamo iniziato a lavorare sulla pipeline principale ed effetturare i primi test, variando manualmente i parametri</a:t>
            </a:r>
            <a:endParaRPr/>
          </a:p>
        </p:txBody>
      </p:sp>
      <p:sp>
        <p:nvSpPr>
          <p:cNvPr id="99" name="Google Shape;99;g3d0100df4e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f8b408c24_0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highlight>
                <a:srgbClr val="FF0000"/>
              </a:highlight>
            </a:endParaRPr>
          </a:p>
        </p:txBody>
      </p:sp>
      <p:sp>
        <p:nvSpPr>
          <p:cNvPr id="107" name="Google Shape;107;g3cf8b408c24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f8b408c24_0_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4" name="Google Shape;114;g3cf8b408c24_0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f9a8a822f_3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3" name="Google Shape;123;g3cf9a8a822f_3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f9a8a822f_5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Successivamente, andiamo ad applicare l’algoritmo </a:t>
            </a:r>
            <a:r>
              <a:rPr lang="it-IT"/>
              <a:t>Canny</a:t>
            </a:r>
            <a:r>
              <a:rPr lang="it-IT"/>
              <a:t> ovvero il “gold standard” per quanto riguarda gli algoritmi di edge detection. Canny restituisce un’immagine binaria con la stima dei bordi</a:t>
            </a:r>
            <a:endParaRPr/>
          </a:p>
        </p:txBody>
      </p:sp>
      <p:sp>
        <p:nvSpPr>
          <p:cNvPr id="132" name="Google Shape;132;g3cf9a8a822f_5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cf9a8a822f_5_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1" name="Google Shape;141;g3cf9a8a822f_5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f9a8a822f_5_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0" name="Google Shape;150;g3cf9a8a822f_5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cf8b408c24_0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P</a:t>
            </a:r>
            <a:r>
              <a:rPr lang="it-IT"/>
              <a:t>er riassumere quanto visto finora:</a:t>
            </a:r>
            <a:r>
              <a:rPr lang="it-IT"/>
              <a:t> la pipeline ci permette di </a:t>
            </a:r>
            <a:r>
              <a:rPr lang="it-IT"/>
              <a:t>individuare</a:t>
            </a:r>
            <a:r>
              <a:rPr lang="it-IT"/>
              <a:t> la posizione e i contorni delle 20 ROI su un immagine</a:t>
            </a:r>
            <a:endParaRPr/>
          </a:p>
          <a:p>
            <a:pPr indent="0" lvl="0" marL="0" rtl="0" algn="l">
              <a:lnSpc>
                <a:spcPct val="100000"/>
              </a:lnSpc>
              <a:spcBef>
                <a:spcPts val="360"/>
              </a:spcBef>
              <a:spcAft>
                <a:spcPts val="0"/>
              </a:spcAft>
              <a:buSzPts val="1400"/>
              <a:buNone/>
            </a:pPr>
            <a:r>
              <a:rPr lang="it-IT"/>
              <a:t>Poiché però l'algoritmo di ricerca dei contorni non garantisce un ordine deterministico tra le analisi "prima" e "dopo", bisogna stabilire una corrispondenza tra le regioni basata sulla loro vicinanza</a:t>
            </a:r>
            <a:endParaRPr/>
          </a:p>
          <a:p>
            <a:pPr indent="0" lvl="0" marL="0" rtl="0" algn="l">
              <a:lnSpc>
                <a:spcPct val="100000"/>
              </a:lnSpc>
              <a:spcBef>
                <a:spcPts val="360"/>
              </a:spcBef>
              <a:spcAft>
                <a:spcPts val="0"/>
              </a:spcAft>
              <a:buSzPts val="1400"/>
              <a:buNone/>
            </a:pPr>
            <a:r>
              <a:rPr lang="it-IT"/>
              <a:t>In breve, assegniamo a ciascuna ROI un indice in base alla loro posizione: come possiamo vedere dalle immagini infatti prima di applicare questa operazione le stesse 3 ROI hanno “</a:t>
            </a:r>
            <a:r>
              <a:rPr lang="it-IT"/>
              <a:t>nomi” </a:t>
            </a:r>
            <a:r>
              <a:rPr lang="it-IT"/>
              <a:t>diversi. Dopo l’applicazione di </a:t>
            </a:r>
            <a:r>
              <a:rPr lang="it-IT"/>
              <a:t>match_contours_by_center le stesse ROI hanno lo stesso indice</a:t>
            </a:r>
            <a:endParaRPr/>
          </a:p>
        </p:txBody>
      </p:sp>
      <p:sp>
        <p:nvSpPr>
          <p:cNvPr id="159" name="Google Shape;159;g3cf8b408c24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f8b408c24_0_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Lo step finale consiste nell’allineamento delle ROI fra analisi. Poichè il supporto non mantiene una posizione e un orientamento stabile fra le due acquisizioni, spostiamo le ROI dell’analisi dopo in modo da sovrapporle a quelle dell’analisi prima. Nell’immagine abbiamo evidenziato in rosso la posizione delle ROI nelle acquisizioni dell’analisi prima mentre in blu la posizione delle ROI nell’analisi dopo. La freccia in nero mostra la traslazione che effettua ogni ROI del dopo per far sì che condivida lo stesso centro di quella dell’analisi prima</a:t>
            </a:r>
            <a:endParaRPr/>
          </a:p>
          <a:p>
            <a:pPr indent="0" lvl="0" marL="0" rtl="0" algn="l">
              <a:lnSpc>
                <a:spcPct val="100000"/>
              </a:lnSpc>
              <a:spcBef>
                <a:spcPts val="360"/>
              </a:spcBef>
              <a:spcAft>
                <a:spcPts val="0"/>
              </a:spcAft>
              <a:buSzPts val="1400"/>
              <a:buNone/>
            </a:pPr>
            <a:r>
              <a:rPr lang="it-IT"/>
              <a:t>Questo allineamento…</a:t>
            </a:r>
            <a:endParaRPr/>
          </a:p>
        </p:txBody>
      </p:sp>
      <p:sp>
        <p:nvSpPr>
          <p:cNvPr id="172" name="Google Shape;172;g3cf8b408c24_0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f8b408c24_0_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…ci permette quindi di estrarre le singole ROI da entrambe le analisi e salvarle come matrice quadrata di pixel: in questo modo possiamo calcolarne facilmente la differenza. Ad esempio, l’algoritmo nel caso della ROI 14 estrae questi due frammenti che possiamo sottrarre per ottenere la terza immagine. Per far sì che la differenza sia più visibile, abbiamo applicato nuovamente CLAHE, ma è solo a scopo informativo, per mostrarvi meglio i risultati durante questa presentazione; è uno step che non sarà poi presente nella pipeline</a:t>
            </a:r>
            <a:endParaRPr/>
          </a:p>
        </p:txBody>
      </p:sp>
      <p:sp>
        <p:nvSpPr>
          <p:cNvPr id="181" name="Google Shape;181;g3cf8b408c24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f8b408c24_0_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…sempre a scopo dimostrativo, abbiamo “</a:t>
            </a:r>
            <a:r>
              <a:rPr lang="it-IT"/>
              <a:t>ricostruito” </a:t>
            </a:r>
            <a:r>
              <a:rPr lang="it-IT"/>
              <a:t>l’intera immagine, dopo aver applicato la nostra pipeline, l’allineamento e aver effettuato la differenza</a:t>
            </a:r>
            <a:endParaRPr/>
          </a:p>
        </p:txBody>
      </p:sp>
      <p:sp>
        <p:nvSpPr>
          <p:cNvPr id="195" name="Google Shape;195;g3cf8b408c24_0_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f8b408c24_0_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Discutiamo ora alcune </a:t>
            </a:r>
            <a:r>
              <a:rPr lang="it-IT">
                <a:highlight>
                  <a:srgbClr val="FFFF00"/>
                </a:highlight>
              </a:rPr>
              <a:t>limitazioni</a:t>
            </a:r>
            <a:r>
              <a:rPr lang="it-IT"/>
              <a:t> del nostro programma</a:t>
            </a:r>
            <a:endParaRPr/>
          </a:p>
          <a:p>
            <a:pPr indent="0" lvl="0" marL="0" rtl="0" algn="l">
              <a:lnSpc>
                <a:spcPct val="100000"/>
              </a:lnSpc>
              <a:spcBef>
                <a:spcPts val="360"/>
              </a:spcBef>
              <a:spcAft>
                <a:spcPts val="0"/>
              </a:spcAft>
              <a:buSzPts val="1400"/>
              <a:buNone/>
            </a:pPr>
            <a:r>
              <a:rPr lang="it-IT"/>
              <a:t>Al momento, </a:t>
            </a:r>
            <a:r>
              <a:rPr lang="it-IT">
                <a:highlight>
                  <a:srgbClr val="FFFF00"/>
                </a:highlight>
              </a:rPr>
              <a:t>operiamo direttamente sull’intera immagine</a:t>
            </a:r>
            <a:r>
              <a:rPr lang="it-IT"/>
              <a:t>: il risultato quindi della sequenza di operazioni che andiamo ad applicare diventa molto suscettibile ai </a:t>
            </a:r>
            <a:r>
              <a:rPr lang="it-IT">
                <a:highlight>
                  <a:srgbClr val="FFFF00"/>
                </a:highlight>
              </a:rPr>
              <a:t>parametri</a:t>
            </a:r>
            <a:r>
              <a:rPr lang="it-IT"/>
              <a:t> impostati per ciascun step</a:t>
            </a:r>
            <a:endParaRPr/>
          </a:p>
          <a:p>
            <a:pPr indent="0" lvl="0" marL="0" rtl="0" algn="l">
              <a:lnSpc>
                <a:spcPct val="100000"/>
              </a:lnSpc>
              <a:spcBef>
                <a:spcPts val="360"/>
              </a:spcBef>
              <a:spcAft>
                <a:spcPts val="0"/>
              </a:spcAft>
              <a:buSzPts val="1400"/>
              <a:buNone/>
            </a:pPr>
            <a:r>
              <a:rPr lang="it-IT"/>
              <a:t>Inoltre, non è detto che i parametri che abbiamo trovato per questa prima analisi siano validi per tutte le successive analisi che ci verranno inviate</a:t>
            </a:r>
            <a:endParaRPr/>
          </a:p>
          <a:p>
            <a:pPr indent="0" lvl="0" marL="0" rtl="0" algn="l">
              <a:lnSpc>
                <a:spcPct val="100000"/>
              </a:lnSpc>
              <a:spcBef>
                <a:spcPts val="360"/>
              </a:spcBef>
              <a:spcAft>
                <a:spcPts val="0"/>
              </a:spcAft>
              <a:buSzPts val="1400"/>
              <a:buNone/>
            </a:pPr>
            <a:r>
              <a:rPr lang="it-IT"/>
              <a:t>Come possiamo vedere da questi </a:t>
            </a:r>
            <a:r>
              <a:rPr lang="it-IT">
                <a:highlight>
                  <a:srgbClr val="FFFF00"/>
                </a:highlight>
              </a:rPr>
              <a:t>3 casi limiti</a:t>
            </a:r>
            <a:r>
              <a:rPr lang="it-IT"/>
              <a:t>, è davvero difficile che l’algoritmo, operando sull’intera immagine, </a:t>
            </a:r>
            <a:r>
              <a:rPr lang="it-IT">
                <a:highlight>
                  <a:srgbClr val="FFFF00"/>
                </a:highlight>
              </a:rPr>
              <a:t>identifichi con precisione tutti i contorni</a:t>
            </a:r>
            <a:endParaRPr>
              <a:highlight>
                <a:srgbClr val="FFFF00"/>
              </a:highlight>
            </a:endParaRPr>
          </a:p>
          <a:p>
            <a:pPr indent="0" lvl="0" marL="0" rtl="0" algn="l">
              <a:lnSpc>
                <a:spcPct val="100000"/>
              </a:lnSpc>
              <a:spcBef>
                <a:spcPts val="360"/>
              </a:spcBef>
              <a:spcAft>
                <a:spcPts val="0"/>
              </a:spcAft>
              <a:buSzPts val="1400"/>
              <a:buNone/>
            </a:pPr>
            <a:r>
              <a:rPr lang="it-IT"/>
              <a:t>Attualmente però riusciamo comunque ad </a:t>
            </a:r>
            <a:r>
              <a:rPr lang="it-IT">
                <a:highlight>
                  <a:srgbClr val="FFFF00"/>
                </a:highlight>
              </a:rPr>
              <a:t>identificare con affidabilità il centro di ognuna delle 20 ROI</a:t>
            </a:r>
            <a:r>
              <a:rPr lang="it-IT"/>
              <a:t>. Questo ci permette di estrarre </a:t>
            </a:r>
            <a:r>
              <a:rPr lang="it-IT">
                <a:highlight>
                  <a:srgbClr val="FFFF00"/>
                </a:highlight>
              </a:rPr>
              <a:t>20 immagini su cui potremmo operare singolarmente</a:t>
            </a:r>
            <a:r>
              <a:rPr lang="it-IT"/>
              <a:t>, con parametri ad-hoc per ciascun’area</a:t>
            </a:r>
            <a:endParaRPr/>
          </a:p>
          <a:p>
            <a:pPr indent="0" lvl="0" marL="0" rtl="0" algn="l">
              <a:spcBef>
                <a:spcPts val="360"/>
              </a:spcBef>
              <a:spcAft>
                <a:spcPts val="0"/>
              </a:spcAft>
              <a:buClr>
                <a:schemeClr val="dk1"/>
              </a:buClr>
              <a:buSzPts val="1400"/>
              <a:buFont typeface="Arial"/>
              <a:buNone/>
            </a:pPr>
            <a:r>
              <a:rPr lang="it-IT"/>
              <a:t>SPIEGARE MEGLIO I PARAMETRI</a:t>
            </a:r>
            <a:endParaRPr/>
          </a:p>
          <a:p>
            <a:pPr indent="0" lvl="0" marL="0" rtl="0" algn="l">
              <a:spcBef>
                <a:spcPts val="360"/>
              </a:spcBef>
              <a:spcAft>
                <a:spcPts val="0"/>
              </a:spcAft>
              <a:buClr>
                <a:schemeClr val="dk1"/>
              </a:buClr>
              <a:buSzPts val="1400"/>
              <a:buFont typeface="Arial"/>
              <a:buNone/>
            </a:pPr>
            <a:r>
              <a:rPr lang="it-IT"/>
              <a:t>Sviluppi futuri:</a:t>
            </a:r>
            <a:endParaRPr/>
          </a:p>
          <a:p>
            <a:pPr indent="0" lvl="0" marL="0" rtl="0" algn="l">
              <a:spcBef>
                <a:spcPts val="360"/>
              </a:spcBef>
              <a:spcAft>
                <a:spcPts val="0"/>
              </a:spcAft>
              <a:buClr>
                <a:schemeClr val="dk1"/>
              </a:buClr>
              <a:buSzPts val="1400"/>
              <a:buFont typeface="Arial"/>
              <a:buNone/>
            </a:pPr>
            <a:r>
              <a:rPr lang="it-IT"/>
              <a:t>oppure riapplicare la pipeline alle ROI meno circolari (in modo da non riapplicarla alle ROI già estratte correttamente)</a:t>
            </a:r>
            <a:endParaRPr/>
          </a:p>
        </p:txBody>
      </p:sp>
      <p:sp>
        <p:nvSpPr>
          <p:cNvPr id="203" name="Google Shape;203;g3cf8b408c24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cfca16edec_0_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3" name="Google Shape;213;g3cfca16edec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fea706687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21" name="Google Shape;221;g3cfea706687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f8b408c24_0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it-IT"/>
              <a:t>Passiamo infine al lavoro che ci aspetta queste prossime settimane</a:t>
            </a:r>
            <a:endParaRPr/>
          </a:p>
          <a:p>
            <a:pPr indent="0" lvl="0" marL="0" rtl="0" algn="l">
              <a:lnSpc>
                <a:spcPct val="100000"/>
              </a:lnSpc>
              <a:spcBef>
                <a:spcPts val="360"/>
              </a:spcBef>
              <a:spcAft>
                <a:spcPts val="0"/>
              </a:spcAft>
              <a:buSzPts val="1400"/>
              <a:buNone/>
            </a:pPr>
            <a:r>
              <a:rPr lang="it-IT"/>
              <a:t>Come discusso poco fa, potremmo giocare con la parametrizzazione della pipeline per aumentarne la precisione</a:t>
            </a:r>
            <a:endParaRPr/>
          </a:p>
          <a:p>
            <a:pPr indent="0" lvl="0" marL="0" rtl="0" algn="l">
              <a:lnSpc>
                <a:spcPct val="100000"/>
              </a:lnSpc>
              <a:spcBef>
                <a:spcPts val="360"/>
              </a:spcBef>
              <a:spcAft>
                <a:spcPts val="0"/>
              </a:spcAft>
              <a:buSzPts val="1400"/>
              <a:buNone/>
            </a:pPr>
            <a:r>
              <a:rPr lang="it-IT"/>
              <a:t>Potremmo provare ad applicare altri algoritmi di segmentazione, come Watershed, partendo dalle coordinate che già siamo in grado di stabilire</a:t>
            </a:r>
            <a:endParaRPr/>
          </a:p>
          <a:p>
            <a:pPr indent="0" lvl="0" marL="0" rtl="0" algn="l">
              <a:lnSpc>
                <a:spcPct val="100000"/>
              </a:lnSpc>
              <a:spcBef>
                <a:spcPts val="360"/>
              </a:spcBef>
              <a:spcAft>
                <a:spcPts val="0"/>
              </a:spcAft>
              <a:buSzPts val="1400"/>
              <a:buNone/>
            </a:pPr>
            <a:r>
              <a:rPr lang="it-IT"/>
              <a:t>Potremmo pensare di aggiungere dei marcatori al supporto fisico, in modo da allineare le immagini istantaneamente o, qualora possibile, fissare il supporto in modo da poter evitare un allineamento digitale</a:t>
            </a:r>
            <a:endParaRPr/>
          </a:p>
          <a:p>
            <a:pPr indent="0" lvl="0" marL="0" rtl="0" algn="l">
              <a:lnSpc>
                <a:spcPct val="100000"/>
              </a:lnSpc>
              <a:spcBef>
                <a:spcPts val="360"/>
              </a:spcBef>
              <a:spcAft>
                <a:spcPts val="0"/>
              </a:spcAft>
              <a:buSzPts val="1400"/>
              <a:buNone/>
            </a:pPr>
            <a:r>
              <a:rPr lang="it-IT">
                <a:highlight>
                  <a:srgbClr val="FF0000"/>
                </a:highlight>
              </a:rPr>
              <a:t>Infine, per quanto riguarda la seconda parte del progetto, inizieremo con lo sviluppo dell’applicazione che permetterà di interagire con il nostro programma tramite interfaccia grafica e, una volta ricevute le immagini di altre analisi, valideremo quanto fatto finora</a:t>
            </a:r>
            <a:endParaRPr>
              <a:highlight>
                <a:srgbClr val="FF0000"/>
              </a:highlight>
            </a:endParaRPr>
          </a:p>
        </p:txBody>
      </p:sp>
      <p:sp>
        <p:nvSpPr>
          <p:cNvPr id="229" name="Google Shape;229;g3cf8b408c24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046eba90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d046eba90f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7" name="Google Shape;237;g3d046eba90f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d0ddeebf51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d0ddeebf51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6" name="Google Shape;246;g3d0ddeebf51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046eba90f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d046eba90f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280"/>
              </a:spcBef>
              <a:spcAft>
                <a:spcPts val="0"/>
              </a:spcAft>
              <a:buClr>
                <a:schemeClr val="dk1"/>
              </a:buClr>
              <a:buSzPts val="1100"/>
              <a:buFont typeface="Arial"/>
              <a:buNone/>
            </a:pPr>
            <a:r>
              <a:rPr lang="it-IT" sz="1400"/>
              <a:t>Come progetto di testi ci sarà un ulteriore sviluppo integrando algoritmica di machine learning per l’incremento della sensibilità del sistema, tramite analisi pixel-pixel.</a:t>
            </a:r>
            <a:endParaRPr sz="1400"/>
          </a:p>
          <a:p>
            <a:pPr indent="0" lvl="0" marL="0" rtl="0" algn="l">
              <a:spcBef>
                <a:spcPts val="280"/>
              </a:spcBef>
              <a:spcAft>
                <a:spcPts val="0"/>
              </a:spcAft>
              <a:buClr>
                <a:schemeClr val="dk1"/>
              </a:buClr>
              <a:buSzPts val="1100"/>
              <a:buFont typeface="Arial"/>
              <a:buNone/>
            </a:pPr>
            <a:r>
              <a:rPr lang="it-IT" sz="1400"/>
              <a:t>A questo scopo, la pipeline attuale è pensata per lavorare sui singoli pixel, rendendo possibile l’ulteriore integrazione</a:t>
            </a:r>
            <a:endParaRPr sz="1400"/>
          </a:p>
          <a:p>
            <a:pPr indent="0" lvl="0" marL="0" rtl="0" algn="l">
              <a:spcBef>
                <a:spcPts val="360"/>
              </a:spcBef>
              <a:spcAft>
                <a:spcPts val="0"/>
              </a:spcAft>
              <a:buNone/>
            </a:pPr>
            <a:r>
              <a:t/>
            </a:r>
            <a:endParaRPr/>
          </a:p>
        </p:txBody>
      </p:sp>
      <p:sp>
        <p:nvSpPr>
          <p:cNvPr id="254" name="Google Shape;254;g3d046eba90f_0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cf8b408c24_0_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3" name="Google Shape;263;g3cf8b408c24_0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 pagina">
  <p:cSld name="Prima pagina">
    <p:spTree>
      <p:nvGrpSpPr>
        <p:cNvPr id="13" name="Shape 13"/>
        <p:cNvGrpSpPr/>
        <p:nvPr/>
      </p:nvGrpSpPr>
      <p:grpSpPr>
        <a:xfrm>
          <a:off x="0" y="0"/>
          <a:ext cx="0" cy="0"/>
          <a:chOff x="0" y="0"/>
          <a:chExt cx="0" cy="0"/>
        </a:xfrm>
      </p:grpSpPr>
      <p:sp>
        <p:nvSpPr>
          <p:cNvPr id="14" name="Google Shape;14;p6"/>
          <p:cNvSpPr txBox="1"/>
          <p:nvPr>
            <p:ph type="ctrTitle"/>
          </p:nvPr>
        </p:nvSpPr>
        <p:spPr>
          <a:xfrm>
            <a:off x="323850" y="1700808"/>
            <a:ext cx="7848550" cy="1944216"/>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4200" u="none" cap="none" strike="noStrike">
                <a:solidFill>
                  <a:srgbClr val="69A425"/>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Times New Roman"/>
                <a:ea typeface="Times New Roman"/>
                <a:cs typeface="Times New Roman"/>
                <a:sym typeface="Times New Roman"/>
              </a:defRPr>
            </a:lvl9pPr>
          </a:lstStyle>
          <a:p/>
        </p:txBody>
      </p:sp>
      <p:sp>
        <p:nvSpPr>
          <p:cNvPr id="15" name="Google Shape;15;p6"/>
          <p:cNvSpPr txBox="1"/>
          <p:nvPr>
            <p:ph idx="1" type="body"/>
          </p:nvPr>
        </p:nvSpPr>
        <p:spPr>
          <a:xfrm>
            <a:off x="323528" y="4278154"/>
            <a:ext cx="2520280" cy="50405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16" name="Google Shape;16;p6"/>
          <p:cNvCxnSpPr/>
          <p:nvPr/>
        </p:nvCxnSpPr>
        <p:spPr>
          <a:xfrm>
            <a:off x="323528" y="4012535"/>
            <a:ext cx="7848872" cy="0"/>
          </a:xfrm>
          <a:prstGeom prst="straightConnector1">
            <a:avLst/>
          </a:prstGeom>
          <a:noFill/>
          <a:ln cap="flat" cmpd="sng" w="9525">
            <a:solidFill>
              <a:schemeClr val="dk1"/>
            </a:solidFill>
            <a:prstDash val="solid"/>
            <a:round/>
            <a:headEnd len="sm" w="sm" type="none"/>
            <a:tailEnd len="sm" w="sm" type="none"/>
          </a:ln>
          <a:effectLst>
            <a:outerShdw blurRad="40000" rotWithShape="0" dir="5400000" dist="20000">
              <a:srgbClr val="000000">
                <a:alpha val="38039"/>
              </a:srgbClr>
            </a:outerShdw>
          </a:effectLst>
        </p:spPr>
      </p:cxnSp>
      <p:sp>
        <p:nvSpPr>
          <p:cNvPr id="17" name="Google Shape;17;p6"/>
          <p:cNvSpPr txBox="1"/>
          <p:nvPr>
            <p:ph idx="2" type="body"/>
          </p:nvPr>
        </p:nvSpPr>
        <p:spPr>
          <a:xfrm>
            <a:off x="323528" y="4062130"/>
            <a:ext cx="2520280" cy="14401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8" name="Google Shape;18;p6"/>
          <p:cNvSpPr txBox="1"/>
          <p:nvPr>
            <p:ph idx="3" type="body"/>
          </p:nvPr>
        </p:nvSpPr>
        <p:spPr>
          <a:xfrm>
            <a:off x="323528" y="5331837"/>
            <a:ext cx="2520280" cy="50405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19" name="Google Shape;19;p6"/>
          <p:cNvCxnSpPr/>
          <p:nvPr/>
        </p:nvCxnSpPr>
        <p:spPr>
          <a:xfrm>
            <a:off x="323528" y="5066218"/>
            <a:ext cx="7848872" cy="0"/>
          </a:xfrm>
          <a:prstGeom prst="straightConnector1">
            <a:avLst/>
          </a:prstGeom>
          <a:noFill/>
          <a:ln cap="flat" cmpd="sng" w="9525">
            <a:solidFill>
              <a:schemeClr val="dk1"/>
            </a:solidFill>
            <a:prstDash val="solid"/>
            <a:round/>
            <a:headEnd len="sm" w="sm" type="none"/>
            <a:tailEnd len="sm" w="sm" type="none"/>
          </a:ln>
          <a:effectLst>
            <a:outerShdw blurRad="40000" rotWithShape="0" dir="5400000" dist="20000">
              <a:srgbClr val="000000">
                <a:alpha val="38039"/>
              </a:srgbClr>
            </a:outerShdw>
          </a:effectLst>
        </p:spPr>
      </p:cxnSp>
      <p:sp>
        <p:nvSpPr>
          <p:cNvPr id="20" name="Google Shape;20;p6"/>
          <p:cNvSpPr txBox="1"/>
          <p:nvPr>
            <p:ph idx="4" type="body"/>
          </p:nvPr>
        </p:nvSpPr>
        <p:spPr>
          <a:xfrm>
            <a:off x="323528" y="5115813"/>
            <a:ext cx="2520280" cy="14401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1" name="Google Shape;21;p6"/>
          <p:cNvSpPr txBox="1"/>
          <p:nvPr>
            <p:ph idx="5" type="body"/>
          </p:nvPr>
        </p:nvSpPr>
        <p:spPr>
          <a:xfrm>
            <a:off x="2987824" y="5115813"/>
            <a:ext cx="2520280" cy="14401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2" name="Google Shape;22;p6"/>
          <p:cNvSpPr txBox="1"/>
          <p:nvPr>
            <p:ph idx="6" type="body"/>
          </p:nvPr>
        </p:nvSpPr>
        <p:spPr>
          <a:xfrm>
            <a:off x="2987824" y="5331837"/>
            <a:ext cx="2520280" cy="50405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3" name="Google Shape;23;p6"/>
          <p:cNvSpPr txBox="1"/>
          <p:nvPr>
            <p:ph idx="7" type="body"/>
          </p:nvPr>
        </p:nvSpPr>
        <p:spPr>
          <a:xfrm>
            <a:off x="2987824" y="4062130"/>
            <a:ext cx="2520280" cy="14401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4" name="Google Shape;24;p6"/>
          <p:cNvSpPr txBox="1"/>
          <p:nvPr>
            <p:ph idx="8" type="body"/>
          </p:nvPr>
        </p:nvSpPr>
        <p:spPr>
          <a:xfrm>
            <a:off x="2987824" y="4278154"/>
            <a:ext cx="2520280" cy="50405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5" name="Google Shape;25;p6"/>
          <p:cNvSpPr txBox="1"/>
          <p:nvPr>
            <p:ph idx="9" type="body"/>
          </p:nvPr>
        </p:nvSpPr>
        <p:spPr>
          <a:xfrm>
            <a:off x="323528" y="6381328"/>
            <a:ext cx="2520280" cy="216024"/>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26" name="Google Shape;26;p6"/>
          <p:cNvCxnSpPr/>
          <p:nvPr/>
        </p:nvCxnSpPr>
        <p:spPr>
          <a:xfrm>
            <a:off x="323528" y="6115709"/>
            <a:ext cx="7848872" cy="0"/>
          </a:xfrm>
          <a:prstGeom prst="straightConnector1">
            <a:avLst/>
          </a:prstGeom>
          <a:noFill/>
          <a:ln cap="flat" cmpd="sng" w="9525">
            <a:solidFill>
              <a:schemeClr val="dk1"/>
            </a:solidFill>
            <a:prstDash val="solid"/>
            <a:round/>
            <a:headEnd len="sm" w="sm" type="none"/>
            <a:tailEnd len="sm" w="sm" type="none"/>
          </a:ln>
          <a:effectLst>
            <a:outerShdw blurRad="40000" rotWithShape="0" dir="5400000" dist="20000">
              <a:srgbClr val="000000">
                <a:alpha val="38039"/>
              </a:srgbClr>
            </a:outerShdw>
          </a:effectLst>
        </p:spPr>
      </p:cxnSp>
      <p:sp>
        <p:nvSpPr>
          <p:cNvPr id="27" name="Google Shape;27;p6"/>
          <p:cNvSpPr txBox="1"/>
          <p:nvPr>
            <p:ph idx="13" type="body"/>
          </p:nvPr>
        </p:nvSpPr>
        <p:spPr>
          <a:xfrm>
            <a:off x="323528" y="6165304"/>
            <a:ext cx="2520280" cy="14401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8" name="Google Shape;28;p6"/>
          <p:cNvSpPr txBox="1"/>
          <p:nvPr>
            <p:ph idx="14" type="body"/>
          </p:nvPr>
        </p:nvSpPr>
        <p:spPr>
          <a:xfrm>
            <a:off x="5652120" y="5115813"/>
            <a:ext cx="2520280" cy="14401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9" name="Google Shape;29;p6"/>
          <p:cNvSpPr txBox="1"/>
          <p:nvPr>
            <p:ph idx="15" type="body"/>
          </p:nvPr>
        </p:nvSpPr>
        <p:spPr>
          <a:xfrm>
            <a:off x="5652120" y="5331837"/>
            <a:ext cx="2520280" cy="216024"/>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0" name="Google Shape;30;p6"/>
          <p:cNvSpPr txBox="1"/>
          <p:nvPr>
            <p:ph idx="16" type="body"/>
          </p:nvPr>
        </p:nvSpPr>
        <p:spPr>
          <a:xfrm>
            <a:off x="5652120" y="4062130"/>
            <a:ext cx="2520280" cy="14401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1" name="Google Shape;31;p6"/>
          <p:cNvSpPr txBox="1"/>
          <p:nvPr>
            <p:ph idx="17" type="body"/>
          </p:nvPr>
        </p:nvSpPr>
        <p:spPr>
          <a:xfrm>
            <a:off x="5652120" y="4278154"/>
            <a:ext cx="2520280" cy="50405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Modulo_SUPSI_DTI.gif" id="32" name="Google Shape;32;p6"/>
          <p:cNvPicPr preferRelativeResize="0"/>
          <p:nvPr/>
        </p:nvPicPr>
        <p:blipFill rotWithShape="1">
          <a:blip r:embed="rId2">
            <a:alphaModFix/>
          </a:blip>
          <a:srcRect b="0" l="0" r="0" t="0"/>
          <a:stretch/>
        </p:blipFill>
        <p:spPr>
          <a:xfrm>
            <a:off x="341313" y="179388"/>
            <a:ext cx="4075112" cy="1471612"/>
          </a:xfrm>
          <a:prstGeom prst="rect">
            <a:avLst/>
          </a:prstGeom>
          <a:noFill/>
          <a:ln>
            <a:noFill/>
          </a:ln>
        </p:spPr>
      </p:pic>
      <p:sp>
        <p:nvSpPr>
          <p:cNvPr id="33" name="Google Shape;33;p6"/>
          <p:cNvSpPr txBox="1"/>
          <p:nvPr>
            <p:ph idx="18" type="body"/>
          </p:nvPr>
        </p:nvSpPr>
        <p:spPr>
          <a:xfrm>
            <a:off x="2987824" y="6381328"/>
            <a:ext cx="2520280" cy="216024"/>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4" name="Google Shape;34;p6"/>
          <p:cNvSpPr txBox="1"/>
          <p:nvPr>
            <p:ph idx="19" type="body"/>
          </p:nvPr>
        </p:nvSpPr>
        <p:spPr>
          <a:xfrm>
            <a:off x="2987824" y="6165304"/>
            <a:ext cx="2520280" cy="14401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800"/>
              <a:buFont typeface="Arial"/>
              <a:buNone/>
              <a:defRPr b="0" i="0" sz="8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5" name="Google Shape;35;p6"/>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testo e immagine">
  <p:cSld name="Titolo; testo e immagine">
    <p:spTree>
      <p:nvGrpSpPr>
        <p:cNvPr id="36" name="Shape 36"/>
        <p:cNvGrpSpPr/>
        <p:nvPr/>
      </p:nvGrpSpPr>
      <p:grpSpPr>
        <a:xfrm>
          <a:off x="0" y="0"/>
          <a:ext cx="0" cy="0"/>
          <a:chOff x="0" y="0"/>
          <a:chExt cx="0" cy="0"/>
        </a:xfrm>
      </p:grpSpPr>
      <p:sp>
        <p:nvSpPr>
          <p:cNvPr id="37" name="Google Shape;37;p7"/>
          <p:cNvSpPr txBox="1"/>
          <p:nvPr>
            <p:ph idx="1" type="body"/>
          </p:nvPr>
        </p:nvSpPr>
        <p:spPr>
          <a:xfrm>
            <a:off x="323528" y="2314972"/>
            <a:ext cx="3816424" cy="4248472"/>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8" name="Google Shape;38;p7"/>
          <p:cNvSpPr txBox="1"/>
          <p:nvPr>
            <p:ph idx="2" type="body"/>
          </p:nvPr>
        </p:nvSpPr>
        <p:spPr>
          <a:xfrm>
            <a:off x="323528" y="1203808"/>
            <a:ext cx="7848872" cy="929048"/>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540"/>
              </a:spcBef>
              <a:spcAft>
                <a:spcPts val="0"/>
              </a:spcAft>
              <a:buClr>
                <a:srgbClr val="69A425"/>
              </a:buClr>
              <a:buSzPts val="2700"/>
              <a:buFont typeface="Arial"/>
              <a:buNone/>
              <a:defRPr b="0" i="0" sz="2700" u="none" cap="none" strike="noStrike">
                <a:solidFill>
                  <a:srgbClr val="69A425"/>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9" name="Google Shape;39;p7"/>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o e immagine">
  <p:cSld name="Testo e immagine">
    <p:spTree>
      <p:nvGrpSpPr>
        <p:cNvPr id="40" name="Shape 40"/>
        <p:cNvGrpSpPr/>
        <p:nvPr/>
      </p:nvGrpSpPr>
      <p:grpSpPr>
        <a:xfrm>
          <a:off x="0" y="0"/>
          <a:ext cx="0" cy="0"/>
          <a:chOff x="0" y="0"/>
          <a:chExt cx="0" cy="0"/>
        </a:xfrm>
      </p:grpSpPr>
      <p:sp>
        <p:nvSpPr>
          <p:cNvPr id="41" name="Google Shape;41;p8"/>
          <p:cNvSpPr txBox="1"/>
          <p:nvPr>
            <p:ph idx="1" type="body"/>
          </p:nvPr>
        </p:nvSpPr>
        <p:spPr>
          <a:xfrm>
            <a:off x="323528" y="1247552"/>
            <a:ext cx="3816424" cy="5328592"/>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2" name="Google Shape;42;p8"/>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testo; 2/3 immagine">
  <p:cSld name="1/3 testo; 2/3 immagine">
    <p:spTree>
      <p:nvGrpSpPr>
        <p:cNvPr id="43" name="Shape 43"/>
        <p:cNvGrpSpPr/>
        <p:nvPr/>
      </p:nvGrpSpPr>
      <p:grpSpPr>
        <a:xfrm>
          <a:off x="0" y="0"/>
          <a:ext cx="0" cy="0"/>
          <a:chOff x="0" y="0"/>
          <a:chExt cx="0" cy="0"/>
        </a:xfrm>
      </p:grpSpPr>
      <p:sp>
        <p:nvSpPr>
          <p:cNvPr id="44" name="Google Shape;44;p9"/>
          <p:cNvSpPr txBox="1"/>
          <p:nvPr>
            <p:ph idx="1" type="body"/>
          </p:nvPr>
        </p:nvSpPr>
        <p:spPr>
          <a:xfrm>
            <a:off x="323528" y="1247592"/>
            <a:ext cx="2520280" cy="5328592"/>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5" name="Google Shape;45;p9"/>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5"/>
          <p:cNvPicPr preferRelativeResize="0"/>
          <p:nvPr/>
        </p:nvPicPr>
        <p:blipFill rotWithShape="1">
          <a:blip r:embed="rId1">
            <a:alphaModFix/>
          </a:blip>
          <a:srcRect b="0" l="0" r="0" t="0"/>
          <a:stretch/>
        </p:blipFill>
        <p:spPr>
          <a:xfrm>
            <a:off x="8532440" y="4008288"/>
            <a:ext cx="271836" cy="2548961"/>
          </a:xfrm>
          <a:prstGeom prst="rect">
            <a:avLst/>
          </a:prstGeom>
          <a:noFill/>
          <a:ln>
            <a:noFill/>
          </a:ln>
        </p:spPr>
      </p:pic>
      <p:pic>
        <p:nvPicPr>
          <p:cNvPr descr="logo_SUPSI_acr.gif" id="11" name="Google Shape;11;p5"/>
          <p:cNvPicPr preferRelativeResize="0"/>
          <p:nvPr/>
        </p:nvPicPr>
        <p:blipFill rotWithShape="1">
          <a:blip r:embed="rId2">
            <a:alphaModFix/>
          </a:blip>
          <a:srcRect b="0" l="0" r="0" t="0"/>
          <a:stretch/>
        </p:blipFill>
        <p:spPr>
          <a:xfrm>
            <a:off x="346075" y="188640"/>
            <a:ext cx="469900" cy="131763"/>
          </a:xfrm>
          <a:prstGeom prst="rect">
            <a:avLst/>
          </a:prstGeom>
          <a:noFill/>
          <a:ln>
            <a:noFill/>
          </a:ln>
        </p:spPr>
      </p:pic>
      <p:sp>
        <p:nvSpPr>
          <p:cNvPr id="12" name="Google Shape;12;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jpg"/><Relationship Id="rId4" Type="http://schemas.openxmlformats.org/officeDocument/2006/relationships/image" Target="../media/image3.jpg"/><Relationship Id="rId5" Type="http://schemas.openxmlformats.org/officeDocument/2006/relationships/image" Target="../media/image12.jpg"/><Relationship Id="rId6"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11.png"/><Relationship Id="rId6"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
          <p:cNvSpPr txBox="1"/>
          <p:nvPr>
            <p:ph type="ctrTitle"/>
          </p:nvPr>
        </p:nvSpPr>
        <p:spPr>
          <a:xfrm>
            <a:off x="323850" y="1700804"/>
            <a:ext cx="7848600" cy="86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it-IT"/>
              <a:t>Image Analysis</a:t>
            </a:r>
            <a:endParaRPr/>
          </a:p>
        </p:txBody>
      </p:sp>
      <p:sp>
        <p:nvSpPr>
          <p:cNvPr id="51" name="Google Shape;51;p1"/>
          <p:cNvSpPr txBox="1"/>
          <p:nvPr>
            <p:ph idx="1" type="body"/>
          </p:nvPr>
        </p:nvSpPr>
        <p:spPr>
          <a:xfrm>
            <a:off x="323678" y="3524579"/>
            <a:ext cx="2520300" cy="5040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chemeClr val="dk1"/>
              </a:buClr>
              <a:buSzPts val="1400"/>
              <a:buFont typeface="Arial"/>
              <a:buNone/>
            </a:pPr>
            <a:r>
              <a:rPr lang="it-IT"/>
              <a:t>Pernisi Lapo</a:t>
            </a:r>
            <a:endParaRPr/>
          </a:p>
          <a:p>
            <a:pPr indent="-342900" lvl="0" marL="342900" marR="0" rtl="0" algn="l">
              <a:lnSpc>
                <a:spcPct val="100000"/>
              </a:lnSpc>
              <a:spcBef>
                <a:spcPts val="0"/>
              </a:spcBef>
              <a:spcAft>
                <a:spcPts val="0"/>
              </a:spcAft>
              <a:buClr>
                <a:schemeClr val="dk1"/>
              </a:buClr>
              <a:buSzPts val="1400"/>
              <a:buFont typeface="Arial"/>
              <a:buNone/>
            </a:pPr>
            <a:r>
              <a:rPr lang="it-IT"/>
              <a:t>Torri Simone</a:t>
            </a:r>
            <a:endParaRPr/>
          </a:p>
        </p:txBody>
      </p:sp>
      <p:sp>
        <p:nvSpPr>
          <p:cNvPr id="52" name="Google Shape;52;p1"/>
          <p:cNvSpPr txBox="1"/>
          <p:nvPr>
            <p:ph idx="2" type="body"/>
          </p:nvPr>
        </p:nvSpPr>
        <p:spPr>
          <a:xfrm>
            <a:off x="323528" y="4062130"/>
            <a:ext cx="2520300" cy="14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it-IT"/>
              <a:t>Studente/i</a:t>
            </a:r>
            <a:endParaRPr/>
          </a:p>
        </p:txBody>
      </p:sp>
      <p:sp>
        <p:nvSpPr>
          <p:cNvPr id="53" name="Google Shape;53;p1"/>
          <p:cNvSpPr txBox="1"/>
          <p:nvPr>
            <p:ph idx="3" type="body"/>
          </p:nvPr>
        </p:nvSpPr>
        <p:spPr>
          <a:xfrm>
            <a:off x="323528" y="4797150"/>
            <a:ext cx="2520300" cy="5040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chemeClr val="dk1"/>
              </a:buClr>
              <a:buSzPts val="1400"/>
              <a:buFont typeface="Arial"/>
              <a:buNone/>
            </a:pPr>
            <a:r>
              <a:rPr lang="it-IT"/>
              <a:t>Ingegneria Informatica</a:t>
            </a:r>
            <a:endParaRPr/>
          </a:p>
        </p:txBody>
      </p:sp>
      <p:sp>
        <p:nvSpPr>
          <p:cNvPr id="54" name="Google Shape;54;p1"/>
          <p:cNvSpPr txBox="1"/>
          <p:nvPr>
            <p:ph idx="4" type="body"/>
          </p:nvPr>
        </p:nvSpPr>
        <p:spPr>
          <a:xfrm>
            <a:off x="323528" y="5115813"/>
            <a:ext cx="2520300" cy="14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it-IT"/>
              <a:t>Corso di laurea</a:t>
            </a:r>
            <a:endParaRPr/>
          </a:p>
        </p:txBody>
      </p:sp>
      <p:sp>
        <p:nvSpPr>
          <p:cNvPr id="55" name="Google Shape;55;p1"/>
          <p:cNvSpPr txBox="1"/>
          <p:nvPr>
            <p:ph idx="5" type="body"/>
          </p:nvPr>
        </p:nvSpPr>
        <p:spPr>
          <a:xfrm>
            <a:off x="2987824" y="5115813"/>
            <a:ext cx="2520300" cy="14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it-IT"/>
              <a:t>Modulo / Codice Progetto</a:t>
            </a:r>
            <a:endParaRPr/>
          </a:p>
        </p:txBody>
      </p:sp>
      <p:sp>
        <p:nvSpPr>
          <p:cNvPr id="56" name="Google Shape;56;p1"/>
          <p:cNvSpPr txBox="1"/>
          <p:nvPr>
            <p:ph idx="6" type="body"/>
          </p:nvPr>
        </p:nvSpPr>
        <p:spPr>
          <a:xfrm>
            <a:off x="2987824" y="4797150"/>
            <a:ext cx="2520300" cy="504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1400"/>
              <a:buNone/>
            </a:pPr>
            <a:r>
              <a:rPr lang="it-IT"/>
              <a:t>Progetto di semestre M-P6202</a:t>
            </a:r>
            <a:endParaRPr/>
          </a:p>
        </p:txBody>
      </p:sp>
      <p:sp>
        <p:nvSpPr>
          <p:cNvPr id="57" name="Google Shape;57;p1"/>
          <p:cNvSpPr txBox="1"/>
          <p:nvPr>
            <p:ph idx="7" type="body"/>
          </p:nvPr>
        </p:nvSpPr>
        <p:spPr>
          <a:xfrm>
            <a:off x="2987824" y="4062130"/>
            <a:ext cx="2520300" cy="14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it-IT"/>
              <a:t>Relatore</a:t>
            </a:r>
            <a:endParaRPr/>
          </a:p>
        </p:txBody>
      </p:sp>
      <p:sp>
        <p:nvSpPr>
          <p:cNvPr id="58" name="Google Shape;58;p1"/>
          <p:cNvSpPr txBox="1"/>
          <p:nvPr>
            <p:ph idx="8" type="body"/>
          </p:nvPr>
        </p:nvSpPr>
        <p:spPr>
          <a:xfrm>
            <a:off x="2987975" y="3742987"/>
            <a:ext cx="2520300" cy="2856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1400"/>
              <a:buNone/>
            </a:pPr>
            <a:r>
              <a:rPr lang="it-IT"/>
              <a:t>Stefanini Igor, PhD</a:t>
            </a:r>
            <a:endParaRPr/>
          </a:p>
        </p:txBody>
      </p:sp>
      <p:sp>
        <p:nvSpPr>
          <p:cNvPr id="59" name="Google Shape;59;p1"/>
          <p:cNvSpPr txBox="1"/>
          <p:nvPr>
            <p:ph idx="9" type="body"/>
          </p:nvPr>
        </p:nvSpPr>
        <p:spPr>
          <a:xfrm>
            <a:off x="323528" y="5877803"/>
            <a:ext cx="2520300" cy="216000"/>
          </a:xfrm>
          <a:prstGeom prst="rect">
            <a:avLst/>
          </a:prstGeom>
          <a:noFill/>
          <a:ln>
            <a:noFill/>
          </a:ln>
        </p:spPr>
        <p:txBody>
          <a:bodyPr anchorCtr="0" anchor="t" bIns="0" lIns="0" spcFirstLastPara="1" rIns="0" wrap="square" tIns="0">
            <a:noAutofit/>
          </a:bodyPr>
          <a:lstStyle/>
          <a:p>
            <a:pPr indent="-342900" lvl="0" marL="342900" rtl="0" algn="l">
              <a:spcBef>
                <a:spcPts val="0"/>
              </a:spcBef>
              <a:spcAft>
                <a:spcPts val="0"/>
              </a:spcAft>
              <a:buClr>
                <a:schemeClr val="dk1"/>
              </a:buClr>
              <a:buSzPts val="1400"/>
              <a:buNone/>
            </a:pPr>
            <a:r>
              <a:rPr lang="it-IT"/>
              <a:t>MeDiTech, UniCt</a:t>
            </a:r>
            <a:endParaRPr/>
          </a:p>
        </p:txBody>
      </p:sp>
      <p:sp>
        <p:nvSpPr>
          <p:cNvPr id="60" name="Google Shape;60;p1"/>
          <p:cNvSpPr txBox="1"/>
          <p:nvPr>
            <p:ph idx="13" type="body"/>
          </p:nvPr>
        </p:nvSpPr>
        <p:spPr>
          <a:xfrm>
            <a:off x="323528" y="6165304"/>
            <a:ext cx="2520300" cy="14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it-IT"/>
              <a:t>Committente</a:t>
            </a:r>
            <a:endParaRPr/>
          </a:p>
        </p:txBody>
      </p:sp>
      <p:sp>
        <p:nvSpPr>
          <p:cNvPr id="61" name="Google Shape;61;p1"/>
          <p:cNvSpPr txBox="1"/>
          <p:nvPr>
            <p:ph idx="14" type="body"/>
          </p:nvPr>
        </p:nvSpPr>
        <p:spPr>
          <a:xfrm>
            <a:off x="5652120" y="5115813"/>
            <a:ext cx="2520300" cy="14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it-IT"/>
              <a:t>Anno</a:t>
            </a:r>
            <a:endParaRPr/>
          </a:p>
        </p:txBody>
      </p:sp>
      <p:sp>
        <p:nvSpPr>
          <p:cNvPr id="62" name="Google Shape;62;p1"/>
          <p:cNvSpPr txBox="1"/>
          <p:nvPr>
            <p:ph idx="15" type="body"/>
          </p:nvPr>
        </p:nvSpPr>
        <p:spPr>
          <a:xfrm>
            <a:off x="5652120" y="4797150"/>
            <a:ext cx="2520300" cy="216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1400"/>
              <a:buNone/>
            </a:pPr>
            <a:r>
              <a:rPr lang="it-IT"/>
              <a:t>2025/26</a:t>
            </a:r>
            <a:endParaRPr/>
          </a:p>
        </p:txBody>
      </p:sp>
      <p:sp>
        <p:nvSpPr>
          <p:cNvPr id="63" name="Google Shape;63;p1"/>
          <p:cNvSpPr txBox="1"/>
          <p:nvPr>
            <p:ph idx="16" type="body"/>
          </p:nvPr>
        </p:nvSpPr>
        <p:spPr>
          <a:xfrm>
            <a:off x="5652120" y="4062130"/>
            <a:ext cx="2520300" cy="14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it-IT"/>
              <a:t>Correlatore</a:t>
            </a:r>
            <a:endParaRPr/>
          </a:p>
        </p:txBody>
      </p:sp>
      <p:sp>
        <p:nvSpPr>
          <p:cNvPr id="64" name="Google Shape;64;p1"/>
          <p:cNvSpPr txBox="1"/>
          <p:nvPr>
            <p:ph idx="18" type="body"/>
          </p:nvPr>
        </p:nvSpPr>
        <p:spPr>
          <a:xfrm>
            <a:off x="2987824" y="5877803"/>
            <a:ext cx="2520300" cy="216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1400"/>
              <a:buNone/>
            </a:pPr>
            <a:r>
              <a:rPr lang="it-IT"/>
              <a:t>16/03/2026</a:t>
            </a:r>
            <a:endParaRPr/>
          </a:p>
        </p:txBody>
      </p:sp>
      <p:sp>
        <p:nvSpPr>
          <p:cNvPr id="65" name="Google Shape;65;p1"/>
          <p:cNvSpPr txBox="1"/>
          <p:nvPr>
            <p:ph idx="19" type="body"/>
          </p:nvPr>
        </p:nvSpPr>
        <p:spPr>
          <a:xfrm>
            <a:off x="2987824" y="6165304"/>
            <a:ext cx="2520300" cy="14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800"/>
              <a:buNone/>
            </a:pPr>
            <a:r>
              <a:rPr lang="it-IT"/>
              <a:t>Data</a:t>
            </a:r>
            <a:endParaRPr/>
          </a:p>
        </p:txBody>
      </p:sp>
      <p:sp>
        <p:nvSpPr>
          <p:cNvPr id="66" name="Google Shape;66;p1"/>
          <p:cNvSpPr txBox="1"/>
          <p:nvPr>
            <p:ph idx="8" type="body"/>
          </p:nvPr>
        </p:nvSpPr>
        <p:spPr>
          <a:xfrm>
            <a:off x="5652275" y="3742975"/>
            <a:ext cx="2520300" cy="2856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1400"/>
              <a:buNone/>
            </a:pPr>
            <a:r>
              <a:rPr lang="it-IT"/>
              <a:t>Marocco Stefano</a:t>
            </a:r>
            <a:endParaRPr/>
          </a:p>
        </p:txBody>
      </p:sp>
      <p:sp>
        <p:nvSpPr>
          <p:cNvPr id="67" name="Google Shape;67;p1"/>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3cf8b408c24_0_50"/>
          <p:cNvSpPr txBox="1"/>
          <p:nvPr>
            <p:ph idx="1" type="body"/>
          </p:nvPr>
        </p:nvSpPr>
        <p:spPr>
          <a:xfrm>
            <a:off x="323528" y="2314972"/>
            <a:ext cx="3816300" cy="4248600"/>
          </a:xfrm>
          <a:prstGeom prst="rect">
            <a:avLst/>
          </a:prstGeom>
          <a:noFill/>
          <a:ln>
            <a:noFill/>
          </a:ln>
        </p:spPr>
        <p:txBody>
          <a:bodyPr anchorCtr="0" anchor="t" bIns="0" lIns="0" spcFirstLastPara="1" rIns="0" wrap="square" tIns="0">
            <a:noAutofit/>
          </a:bodyPr>
          <a:lstStyle/>
          <a:p>
            <a:pPr indent="-342900" lvl="0" marL="457200" marR="0" rtl="0" algn="l">
              <a:lnSpc>
                <a:spcPct val="150000"/>
              </a:lnSpc>
              <a:spcBef>
                <a:spcPts val="0"/>
              </a:spcBef>
              <a:spcAft>
                <a:spcPts val="0"/>
              </a:spcAft>
              <a:buSzPts val="1800"/>
              <a:buChar char="➢"/>
            </a:pPr>
            <a:r>
              <a:rPr lang="it-IT" sz="1800"/>
              <a:t>Contesto e motivazione</a:t>
            </a:r>
            <a:endParaRPr sz="1800"/>
          </a:p>
          <a:p>
            <a:pPr indent="-342900" lvl="0" marL="457200" marR="0" rtl="0" algn="l">
              <a:lnSpc>
                <a:spcPct val="150000"/>
              </a:lnSpc>
              <a:spcBef>
                <a:spcPts val="0"/>
              </a:spcBef>
              <a:spcAft>
                <a:spcPts val="0"/>
              </a:spcAft>
              <a:buSzPts val="1800"/>
              <a:buChar char="➢"/>
            </a:pPr>
            <a:r>
              <a:rPr lang="it-IT" sz="1800"/>
              <a:t>Problema</a:t>
            </a:r>
            <a:endParaRPr sz="1800"/>
          </a:p>
          <a:p>
            <a:pPr indent="-342900" lvl="0" marL="457200" marR="0" rtl="0" algn="l">
              <a:lnSpc>
                <a:spcPct val="150000"/>
              </a:lnSpc>
              <a:spcBef>
                <a:spcPts val="0"/>
              </a:spcBef>
              <a:spcAft>
                <a:spcPts val="0"/>
              </a:spcAft>
              <a:buSzPts val="1800"/>
              <a:buChar char="➢"/>
            </a:pPr>
            <a:r>
              <a:rPr lang="it-IT" sz="1800"/>
              <a:t>Approccio</a:t>
            </a:r>
            <a:endParaRPr sz="1800"/>
          </a:p>
          <a:p>
            <a:pPr indent="-342900" lvl="1" marL="914400" marR="0" rtl="0" algn="l">
              <a:lnSpc>
                <a:spcPct val="150000"/>
              </a:lnSpc>
              <a:spcBef>
                <a:spcPts val="0"/>
              </a:spcBef>
              <a:spcAft>
                <a:spcPts val="0"/>
              </a:spcAft>
              <a:buSzPts val="1800"/>
              <a:buChar char="○"/>
            </a:pPr>
            <a:r>
              <a:rPr lang="it-IT" sz="1800"/>
              <a:t>Preprocessing</a:t>
            </a:r>
            <a:endParaRPr sz="1800"/>
          </a:p>
          <a:p>
            <a:pPr indent="-342900" lvl="1" marL="914400" marR="0" rtl="0" algn="l">
              <a:lnSpc>
                <a:spcPct val="150000"/>
              </a:lnSpc>
              <a:spcBef>
                <a:spcPts val="0"/>
              </a:spcBef>
              <a:spcAft>
                <a:spcPts val="0"/>
              </a:spcAft>
              <a:buSzPts val="1800"/>
              <a:buChar char="○"/>
            </a:pPr>
            <a:r>
              <a:rPr lang="it-IT" sz="1800"/>
              <a:t>Detezione dei contorni</a:t>
            </a:r>
            <a:endParaRPr sz="1800"/>
          </a:p>
          <a:p>
            <a:pPr indent="-342900" lvl="1" marL="914400" marR="0" rtl="0" algn="l">
              <a:lnSpc>
                <a:spcPct val="150000"/>
              </a:lnSpc>
              <a:spcBef>
                <a:spcPts val="0"/>
              </a:spcBef>
              <a:spcAft>
                <a:spcPts val="0"/>
              </a:spcAft>
              <a:buSzPts val="1800"/>
              <a:buChar char="○"/>
            </a:pPr>
            <a:r>
              <a:rPr lang="it-IT" sz="1800"/>
              <a:t>Indicizzazione</a:t>
            </a:r>
            <a:endParaRPr sz="1800"/>
          </a:p>
          <a:p>
            <a:pPr indent="-342900" lvl="1" marL="914400" marR="0" rtl="0" algn="l">
              <a:lnSpc>
                <a:spcPct val="150000"/>
              </a:lnSpc>
              <a:spcBef>
                <a:spcPts val="0"/>
              </a:spcBef>
              <a:spcAft>
                <a:spcPts val="0"/>
              </a:spcAft>
              <a:buSzPts val="1800"/>
              <a:buChar char="○"/>
            </a:pPr>
            <a:r>
              <a:rPr lang="it-IT" sz="1800"/>
              <a:t>Allineamento</a:t>
            </a:r>
            <a:endParaRPr sz="1800"/>
          </a:p>
          <a:p>
            <a:pPr indent="-342900" lvl="0" marL="457200" marR="0" rtl="0" algn="l">
              <a:lnSpc>
                <a:spcPct val="150000"/>
              </a:lnSpc>
              <a:spcBef>
                <a:spcPts val="0"/>
              </a:spcBef>
              <a:spcAft>
                <a:spcPts val="0"/>
              </a:spcAft>
              <a:buSzPts val="1800"/>
              <a:buChar char="➢"/>
            </a:pPr>
            <a:r>
              <a:rPr lang="it-IT" sz="1800"/>
              <a:t>Risultati</a:t>
            </a:r>
            <a:endParaRPr sz="1800"/>
          </a:p>
          <a:p>
            <a:pPr indent="-342900" lvl="0" marL="457200" marR="0" rtl="0" algn="l">
              <a:lnSpc>
                <a:spcPct val="150000"/>
              </a:lnSpc>
              <a:spcBef>
                <a:spcPts val="0"/>
              </a:spcBef>
              <a:spcAft>
                <a:spcPts val="0"/>
              </a:spcAft>
              <a:buSzPts val="1800"/>
              <a:buChar char="➢"/>
            </a:pPr>
            <a:r>
              <a:rPr lang="it-IT" sz="1800"/>
              <a:t>Limitazioni</a:t>
            </a:r>
            <a:endParaRPr sz="1800"/>
          </a:p>
          <a:p>
            <a:pPr indent="-342900" lvl="0" marL="457200" marR="0" rtl="0" algn="l">
              <a:lnSpc>
                <a:spcPct val="150000"/>
              </a:lnSpc>
              <a:spcBef>
                <a:spcPts val="0"/>
              </a:spcBef>
              <a:spcAft>
                <a:spcPts val="0"/>
              </a:spcAft>
              <a:buSzPts val="1800"/>
              <a:buChar char="➢"/>
            </a:pPr>
            <a:r>
              <a:rPr lang="it-IT" sz="1800"/>
              <a:t>Sviluppi futuri</a:t>
            </a:r>
            <a:endParaRPr sz="1800"/>
          </a:p>
        </p:txBody>
      </p:sp>
      <p:sp>
        <p:nvSpPr>
          <p:cNvPr id="73" name="Google Shape;73;g3cf8b408c24_0_50"/>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Contenuti</a:t>
            </a:r>
            <a:endParaRPr/>
          </a:p>
        </p:txBody>
      </p:sp>
      <p:sp>
        <p:nvSpPr>
          <p:cNvPr id="74" name="Google Shape;74;g3cf8b408c24_0_50"/>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ph idx="2" type="body"/>
          </p:nvPr>
        </p:nvSpPr>
        <p:spPr>
          <a:xfrm>
            <a:off x="323528" y="1203808"/>
            <a:ext cx="7848872" cy="929048"/>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Contesto e motivazione</a:t>
            </a:r>
            <a:endParaRPr/>
          </a:p>
        </p:txBody>
      </p:sp>
      <p:sp>
        <p:nvSpPr>
          <p:cNvPr id="80" name="Google Shape;80;p2"/>
          <p:cNvSpPr txBox="1"/>
          <p:nvPr>
            <p:ph idx="1" type="body"/>
          </p:nvPr>
        </p:nvSpPr>
        <p:spPr>
          <a:xfrm>
            <a:off x="323528" y="2314972"/>
            <a:ext cx="3816300" cy="424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IT" sz="1800"/>
              <a:t>Parte 1:</a:t>
            </a:r>
            <a:endParaRPr sz="1800"/>
          </a:p>
          <a:p>
            <a:pPr indent="-342900" lvl="0" marL="457200" rtl="0" algn="l">
              <a:spcBef>
                <a:spcPts val="0"/>
              </a:spcBef>
              <a:spcAft>
                <a:spcPts val="0"/>
              </a:spcAft>
              <a:buSzPts val="1800"/>
              <a:buChar char="-"/>
            </a:pPr>
            <a:r>
              <a:rPr lang="it-IT" sz="1800">
                <a:solidFill>
                  <a:schemeClr val="accent2"/>
                </a:solidFill>
              </a:rPr>
              <a:t>Pipeline automatica </a:t>
            </a:r>
            <a:r>
              <a:rPr lang="it-IT" sz="1800"/>
              <a:t>per confronto immagini spettrali di pozzetti per l'analisi dei livelli di espressione genica di biomarcatori target ✅</a:t>
            </a:r>
            <a:endParaRPr sz="1800"/>
          </a:p>
          <a:p>
            <a:pPr indent="0" lvl="0" marL="0" rtl="0" algn="l">
              <a:spcBef>
                <a:spcPts val="0"/>
              </a:spcBef>
              <a:spcAft>
                <a:spcPts val="0"/>
              </a:spcAft>
              <a:buNone/>
            </a:pPr>
            <a:r>
              <a:rPr lang="it-IT" sz="1800"/>
              <a:t>Parte 2:</a:t>
            </a:r>
            <a:endParaRPr sz="1800"/>
          </a:p>
          <a:p>
            <a:pPr indent="-342900" lvl="0" marL="457200" rtl="0" algn="l">
              <a:spcBef>
                <a:spcPts val="0"/>
              </a:spcBef>
              <a:spcAft>
                <a:spcPts val="0"/>
              </a:spcAft>
              <a:buSzPts val="1800"/>
              <a:buChar char="-"/>
            </a:pPr>
            <a:r>
              <a:rPr lang="it-IT" sz="1800">
                <a:solidFill>
                  <a:schemeClr val="accent2"/>
                </a:solidFill>
              </a:rPr>
              <a:t>Applicazione desktop</a:t>
            </a:r>
            <a:r>
              <a:rPr lang="it-IT" sz="1800"/>
              <a:t> con interfaccia grafica</a:t>
            </a:r>
            <a:endParaRPr sz="1800"/>
          </a:p>
          <a:p>
            <a:pPr indent="-342900" lvl="0" marL="457200" rtl="0" algn="l">
              <a:spcBef>
                <a:spcPts val="0"/>
              </a:spcBef>
              <a:spcAft>
                <a:spcPts val="0"/>
              </a:spcAft>
              <a:buSzPts val="1800"/>
              <a:buChar char="-"/>
            </a:pPr>
            <a:r>
              <a:rPr lang="it-IT" sz="1800"/>
              <a:t>Deployment, testing, documentazione</a:t>
            </a:r>
            <a:endParaRPr sz="1800"/>
          </a:p>
          <a:p>
            <a:pPr indent="0" lvl="0" marL="0" rtl="0" algn="l">
              <a:spcBef>
                <a:spcPts val="0"/>
              </a:spcBef>
              <a:spcAft>
                <a:spcPts val="0"/>
              </a:spcAft>
              <a:buNone/>
            </a:pPr>
            <a:r>
              <a:t/>
            </a:r>
            <a:endParaRPr sz="1800">
              <a:solidFill>
                <a:srgbClr val="FF0000"/>
              </a:solidFill>
            </a:endParaRPr>
          </a:p>
        </p:txBody>
      </p:sp>
      <p:sp>
        <p:nvSpPr>
          <p:cNvPr id="81" name="Google Shape;81;p2"/>
          <p:cNvSpPr/>
          <p:nvPr/>
        </p:nvSpPr>
        <p:spPr>
          <a:xfrm>
            <a:off x="5152875" y="2314975"/>
            <a:ext cx="2123700" cy="1144500"/>
          </a:xfrm>
          <a:prstGeom prst="roundRect">
            <a:avLst>
              <a:gd fmla="val 16667" name="adj"/>
            </a:avLst>
          </a:prstGeom>
          <a:solidFill>
            <a:srgbClr val="D8D8D8"/>
          </a:solidFill>
          <a:ln cap="flat" cmpd="sng" w="8400">
            <a:solidFill>
              <a:schemeClr val="dk2"/>
            </a:solidFill>
            <a:prstDash val="solid"/>
            <a:round/>
            <a:headEnd len="sm" w="sm" type="none"/>
            <a:tailEnd len="sm" w="sm" type="none"/>
          </a:ln>
        </p:spPr>
        <p:txBody>
          <a:bodyPr anchorCtr="0" anchor="ctr" bIns="80750" lIns="80750" spcFirstLastPara="1" rIns="80750" wrap="square" tIns="80750">
            <a:noAutofit/>
          </a:bodyPr>
          <a:lstStyle/>
          <a:p>
            <a:pPr indent="0" lvl="0" marL="0" rtl="0" algn="ctr">
              <a:lnSpc>
                <a:spcPct val="115000"/>
              </a:lnSpc>
              <a:spcBef>
                <a:spcPts val="0"/>
              </a:spcBef>
              <a:spcAft>
                <a:spcPts val="0"/>
              </a:spcAft>
              <a:buNone/>
            </a:pPr>
            <a:r>
              <a:rPr lang="it-IT" sz="1589"/>
              <a:t>Oggi</a:t>
            </a:r>
            <a:endParaRPr sz="1589"/>
          </a:p>
          <a:p>
            <a:pPr indent="0" lvl="0" marL="0" rtl="0" algn="ctr">
              <a:lnSpc>
                <a:spcPct val="115000"/>
              </a:lnSpc>
              <a:spcBef>
                <a:spcPts val="0"/>
              </a:spcBef>
              <a:spcAft>
                <a:spcPts val="0"/>
              </a:spcAft>
              <a:buNone/>
            </a:pPr>
            <a:r>
              <a:rPr lang="it-IT" sz="2031">
                <a:solidFill>
                  <a:schemeClr val="accent2"/>
                </a:solidFill>
              </a:rPr>
              <a:t>16 marzo</a:t>
            </a:r>
            <a:endParaRPr sz="2031">
              <a:solidFill>
                <a:schemeClr val="accent2"/>
              </a:solidFill>
            </a:endParaRPr>
          </a:p>
          <a:p>
            <a:pPr indent="0" lvl="0" marL="0" rtl="0" algn="ctr">
              <a:lnSpc>
                <a:spcPct val="115000"/>
              </a:lnSpc>
              <a:spcBef>
                <a:spcPts val="0"/>
              </a:spcBef>
              <a:spcAft>
                <a:spcPts val="0"/>
              </a:spcAft>
              <a:buNone/>
            </a:pPr>
            <a:r>
              <a:rPr lang="it-IT" sz="1589"/>
              <a:t>2026</a:t>
            </a:r>
            <a:endParaRPr sz="1589"/>
          </a:p>
        </p:txBody>
      </p:sp>
      <p:sp>
        <p:nvSpPr>
          <p:cNvPr id="82" name="Google Shape;82;p2"/>
          <p:cNvSpPr/>
          <p:nvPr/>
        </p:nvSpPr>
        <p:spPr>
          <a:xfrm>
            <a:off x="5152875" y="4724886"/>
            <a:ext cx="2123700" cy="1144500"/>
          </a:xfrm>
          <a:prstGeom prst="roundRect">
            <a:avLst>
              <a:gd fmla="val 16667" name="adj"/>
            </a:avLst>
          </a:prstGeom>
          <a:solidFill>
            <a:srgbClr val="D8D8D8"/>
          </a:solidFill>
          <a:ln cap="flat" cmpd="sng" w="8400">
            <a:solidFill>
              <a:schemeClr val="dk2"/>
            </a:solidFill>
            <a:prstDash val="solid"/>
            <a:round/>
            <a:headEnd len="sm" w="sm" type="none"/>
            <a:tailEnd len="sm" w="sm" type="none"/>
          </a:ln>
        </p:spPr>
        <p:txBody>
          <a:bodyPr anchorCtr="0" anchor="ctr" bIns="80750" lIns="80750" spcFirstLastPara="1" rIns="80750" wrap="square" tIns="80750">
            <a:noAutofit/>
          </a:bodyPr>
          <a:lstStyle/>
          <a:p>
            <a:pPr indent="0" lvl="0" marL="0" rtl="0" algn="ctr">
              <a:lnSpc>
                <a:spcPct val="115000"/>
              </a:lnSpc>
              <a:spcBef>
                <a:spcPts val="0"/>
              </a:spcBef>
              <a:spcAft>
                <a:spcPts val="0"/>
              </a:spcAft>
              <a:buNone/>
            </a:pPr>
            <a:r>
              <a:rPr lang="it-IT" sz="1589"/>
              <a:t>Deadline</a:t>
            </a:r>
            <a:endParaRPr sz="1589"/>
          </a:p>
          <a:p>
            <a:pPr indent="0" lvl="0" marL="0" rtl="0" algn="ctr">
              <a:lnSpc>
                <a:spcPct val="115000"/>
              </a:lnSpc>
              <a:spcBef>
                <a:spcPts val="0"/>
              </a:spcBef>
              <a:spcAft>
                <a:spcPts val="0"/>
              </a:spcAft>
              <a:buNone/>
            </a:pPr>
            <a:r>
              <a:rPr lang="it-IT" sz="2031">
                <a:solidFill>
                  <a:schemeClr val="accent5"/>
                </a:solidFill>
              </a:rPr>
              <a:t>2 maggio</a:t>
            </a:r>
            <a:endParaRPr sz="2031">
              <a:solidFill>
                <a:schemeClr val="accent5"/>
              </a:solidFill>
            </a:endParaRPr>
          </a:p>
          <a:p>
            <a:pPr indent="0" lvl="0" marL="0" rtl="0" algn="ctr">
              <a:lnSpc>
                <a:spcPct val="115000"/>
              </a:lnSpc>
              <a:spcBef>
                <a:spcPts val="0"/>
              </a:spcBef>
              <a:spcAft>
                <a:spcPts val="0"/>
              </a:spcAft>
              <a:buNone/>
            </a:pPr>
            <a:r>
              <a:rPr lang="it-IT" sz="1589"/>
              <a:t>2026</a:t>
            </a:r>
            <a:endParaRPr sz="1589"/>
          </a:p>
        </p:txBody>
      </p:sp>
      <p:cxnSp>
        <p:nvCxnSpPr>
          <p:cNvPr id="83" name="Google Shape;83;p2"/>
          <p:cNvCxnSpPr>
            <a:stCxn id="81" idx="2"/>
            <a:endCxn id="82" idx="0"/>
          </p:cNvCxnSpPr>
          <p:nvPr/>
        </p:nvCxnSpPr>
        <p:spPr>
          <a:xfrm>
            <a:off x="6214725" y="3459475"/>
            <a:ext cx="0" cy="1265400"/>
          </a:xfrm>
          <a:prstGeom prst="straightConnector1">
            <a:avLst/>
          </a:prstGeom>
          <a:noFill/>
          <a:ln cap="flat" cmpd="sng" w="8400">
            <a:solidFill>
              <a:schemeClr val="dk2"/>
            </a:solidFill>
            <a:prstDash val="solid"/>
            <a:round/>
            <a:headEnd len="med" w="med" type="none"/>
            <a:tailEnd len="med" w="med" type="triangle"/>
          </a:ln>
        </p:spPr>
      </p:cxnSp>
      <p:sp>
        <p:nvSpPr>
          <p:cNvPr id="84" name="Google Shape;84;p2"/>
          <p:cNvSpPr txBox="1"/>
          <p:nvPr/>
        </p:nvSpPr>
        <p:spPr>
          <a:xfrm>
            <a:off x="6214750" y="3915474"/>
            <a:ext cx="965100" cy="353400"/>
          </a:xfrm>
          <a:prstGeom prst="rect">
            <a:avLst/>
          </a:prstGeom>
          <a:noFill/>
          <a:ln>
            <a:noFill/>
          </a:ln>
        </p:spPr>
        <p:txBody>
          <a:bodyPr anchorCtr="0" anchor="t" bIns="80750" lIns="80750" spcFirstLastPara="1" rIns="80750" wrap="square" tIns="80750">
            <a:spAutoFit/>
          </a:bodyPr>
          <a:lstStyle/>
          <a:p>
            <a:pPr indent="0" lvl="0" marL="0" rtl="0" algn="ctr">
              <a:spcBef>
                <a:spcPts val="0"/>
              </a:spcBef>
              <a:spcAft>
                <a:spcPts val="0"/>
              </a:spcAft>
              <a:buNone/>
            </a:pPr>
            <a:r>
              <a:rPr lang="it-IT" sz="1236"/>
              <a:t>47 giorni</a:t>
            </a:r>
            <a:endParaRPr sz="1236"/>
          </a:p>
        </p:txBody>
      </p:sp>
      <p:sp>
        <p:nvSpPr>
          <p:cNvPr id="85" name="Google Shape;85;p2"/>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cf8b408c24_0_0"/>
          <p:cNvSpPr txBox="1"/>
          <p:nvPr>
            <p:ph idx="1" type="body"/>
          </p:nvPr>
        </p:nvSpPr>
        <p:spPr>
          <a:xfrm>
            <a:off x="323525" y="2314975"/>
            <a:ext cx="8121900" cy="111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lang="it-IT" sz="1800"/>
              <a:t>Rilevamento e allineamento delle 20 regioni d’interesse (ROI) per confronto intensità pixel-per-pixel</a:t>
            </a:r>
            <a:endParaRPr sz="1800"/>
          </a:p>
        </p:txBody>
      </p:sp>
      <p:sp>
        <p:nvSpPr>
          <p:cNvPr id="91" name="Google Shape;91;g3cf8b408c24_0_0"/>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Problema</a:t>
            </a:r>
            <a:endParaRPr/>
          </a:p>
        </p:txBody>
      </p:sp>
      <p:pic>
        <p:nvPicPr>
          <p:cNvPr id="92" name="Google Shape;92;g3cf8b408c24_0_0" title="frame_100_prima.jpg"/>
          <p:cNvPicPr preferRelativeResize="0"/>
          <p:nvPr/>
        </p:nvPicPr>
        <p:blipFill>
          <a:blip r:embed="rId3">
            <a:alphaModFix/>
          </a:blip>
          <a:stretch>
            <a:fillRect/>
          </a:stretch>
        </p:blipFill>
        <p:spPr>
          <a:xfrm>
            <a:off x="323526" y="3500589"/>
            <a:ext cx="3873423" cy="2042639"/>
          </a:xfrm>
          <a:prstGeom prst="rect">
            <a:avLst/>
          </a:prstGeom>
          <a:noFill/>
          <a:ln>
            <a:noFill/>
          </a:ln>
        </p:spPr>
      </p:pic>
      <p:pic>
        <p:nvPicPr>
          <p:cNvPr id="93" name="Google Shape;93;g3cf8b408c24_0_0" title="frame_100_dopo.jpg"/>
          <p:cNvPicPr preferRelativeResize="0"/>
          <p:nvPr/>
        </p:nvPicPr>
        <p:blipFill>
          <a:blip r:embed="rId4">
            <a:alphaModFix/>
          </a:blip>
          <a:stretch>
            <a:fillRect/>
          </a:stretch>
        </p:blipFill>
        <p:spPr>
          <a:xfrm>
            <a:off x="4572001" y="3500611"/>
            <a:ext cx="3873423" cy="2042618"/>
          </a:xfrm>
          <a:prstGeom prst="rect">
            <a:avLst/>
          </a:prstGeom>
          <a:noFill/>
          <a:ln>
            <a:noFill/>
          </a:ln>
        </p:spPr>
      </p:pic>
      <p:sp>
        <p:nvSpPr>
          <p:cNvPr id="94" name="Google Shape;94;g3cf8b408c24_0_0"/>
          <p:cNvSpPr txBox="1"/>
          <p:nvPr/>
        </p:nvSpPr>
        <p:spPr>
          <a:xfrm>
            <a:off x="1869638" y="5794575"/>
            <a:ext cx="781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800"/>
              <a:t>Prima</a:t>
            </a:r>
            <a:endParaRPr sz="1800"/>
          </a:p>
        </p:txBody>
      </p:sp>
      <p:sp>
        <p:nvSpPr>
          <p:cNvPr id="95" name="Google Shape;95;g3cf8b408c24_0_0"/>
          <p:cNvSpPr txBox="1"/>
          <p:nvPr/>
        </p:nvSpPr>
        <p:spPr>
          <a:xfrm>
            <a:off x="6118100" y="5794575"/>
            <a:ext cx="781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800"/>
              <a:t>Dopo</a:t>
            </a:r>
            <a:endParaRPr sz="1800"/>
          </a:p>
        </p:txBody>
      </p:sp>
      <p:sp>
        <p:nvSpPr>
          <p:cNvPr id="96" name="Google Shape;96;g3cf8b408c24_0_0"/>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 name="Shape 100"/>
        <p:cNvGrpSpPr/>
        <p:nvPr/>
      </p:nvGrpSpPr>
      <p:grpSpPr>
        <a:xfrm>
          <a:off x="0" y="0"/>
          <a:ext cx="0" cy="0"/>
          <a:chOff x="0" y="0"/>
          <a:chExt cx="0" cy="0"/>
        </a:xfrm>
      </p:grpSpPr>
      <p:sp>
        <p:nvSpPr>
          <p:cNvPr id="101" name="Google Shape;101;g3d0100df4ea_0_0"/>
          <p:cNvSpPr txBox="1"/>
          <p:nvPr>
            <p:ph idx="1" type="body"/>
          </p:nvPr>
        </p:nvSpPr>
        <p:spPr>
          <a:xfrm>
            <a:off x="323528" y="2263601"/>
            <a:ext cx="3816300" cy="4248600"/>
          </a:xfrm>
          <a:prstGeom prst="rect">
            <a:avLst/>
          </a:prstGeom>
          <a:noFill/>
          <a:ln>
            <a:noFill/>
          </a:ln>
        </p:spPr>
        <p:txBody>
          <a:bodyPr anchorCtr="0" anchor="t" bIns="0" lIns="0" spcFirstLastPara="1" rIns="0" wrap="square" tIns="0">
            <a:noAutofit/>
          </a:bodyPr>
          <a:lstStyle/>
          <a:p>
            <a:pPr indent="-342900" lvl="0" marL="457200" marR="0" rtl="0" algn="l">
              <a:lnSpc>
                <a:spcPct val="100000"/>
              </a:lnSpc>
              <a:spcBef>
                <a:spcPts val="0"/>
              </a:spcBef>
              <a:spcAft>
                <a:spcPts val="0"/>
              </a:spcAft>
              <a:buSzPts val="1800"/>
              <a:buChar char="-"/>
            </a:pPr>
            <a:r>
              <a:rPr lang="it-IT" sz="1800"/>
              <a:t>Stato dell’arte</a:t>
            </a:r>
            <a:endParaRPr sz="1800"/>
          </a:p>
          <a:p>
            <a:pPr indent="-342900" lvl="0" marL="457200" marR="0" rtl="0" algn="l">
              <a:lnSpc>
                <a:spcPct val="100000"/>
              </a:lnSpc>
              <a:spcBef>
                <a:spcPts val="0"/>
              </a:spcBef>
              <a:spcAft>
                <a:spcPts val="0"/>
              </a:spcAft>
              <a:buSzPts val="1800"/>
              <a:buChar char="-"/>
            </a:pPr>
            <a:r>
              <a:rPr lang="it-IT" sz="1800"/>
              <a:t>Primi test </a:t>
            </a:r>
            <a:endParaRPr sz="1800"/>
          </a:p>
          <a:p>
            <a:pPr indent="-342900" lvl="0" marL="457200" marR="0" rtl="0" algn="l">
              <a:lnSpc>
                <a:spcPct val="100000"/>
              </a:lnSpc>
              <a:spcBef>
                <a:spcPts val="0"/>
              </a:spcBef>
              <a:spcAft>
                <a:spcPts val="0"/>
              </a:spcAft>
              <a:buSzPts val="1800"/>
              <a:buChar char="-"/>
            </a:pPr>
            <a:r>
              <a:rPr lang="it-IT" sz="1800"/>
              <a:t>Assemblaggio Pipeline</a:t>
            </a:r>
            <a:endParaRPr sz="1800"/>
          </a:p>
          <a:p>
            <a:pPr indent="-342900" lvl="0" marL="457200" marR="0" rtl="0" algn="l">
              <a:lnSpc>
                <a:spcPct val="100000"/>
              </a:lnSpc>
              <a:spcBef>
                <a:spcPts val="0"/>
              </a:spcBef>
              <a:spcAft>
                <a:spcPts val="0"/>
              </a:spcAft>
              <a:buSzPts val="1800"/>
              <a:buChar char="-"/>
            </a:pPr>
            <a:r>
              <a:rPr lang="it-IT" sz="1800"/>
              <a:t>Test ripetuti della pipeline</a:t>
            </a:r>
            <a:endParaRPr sz="1800"/>
          </a:p>
          <a:p>
            <a:pPr indent="0" lvl="0" marL="0" marR="0" rtl="0" algn="l">
              <a:lnSpc>
                <a:spcPct val="100000"/>
              </a:lnSpc>
              <a:spcBef>
                <a:spcPts val="0"/>
              </a:spcBef>
              <a:spcAft>
                <a:spcPts val="0"/>
              </a:spcAft>
              <a:buNone/>
            </a:pPr>
            <a:r>
              <a:t/>
            </a:r>
            <a:endParaRPr sz="1800"/>
          </a:p>
          <a:p>
            <a:pPr indent="0" lvl="0" marL="0" marR="0" rtl="0" algn="l">
              <a:lnSpc>
                <a:spcPct val="100000"/>
              </a:lnSpc>
              <a:spcBef>
                <a:spcPts val="0"/>
              </a:spcBef>
              <a:spcAft>
                <a:spcPts val="0"/>
              </a:spcAft>
              <a:buNone/>
            </a:pPr>
            <a:r>
              <a:rPr lang="it-IT" sz="1800"/>
              <a:t>Aggiungere anche SoA e Gantt</a:t>
            </a:r>
            <a:endParaRPr sz="1800"/>
          </a:p>
        </p:txBody>
      </p:sp>
      <p:sp>
        <p:nvSpPr>
          <p:cNvPr id="102" name="Google Shape;102;g3d0100df4ea_0_0"/>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9A425"/>
              </a:buClr>
              <a:buSzPts val="2700"/>
              <a:buFont typeface="Arial"/>
              <a:buNone/>
            </a:pPr>
            <a:r>
              <a:rPr lang="it-IT"/>
              <a:t>Organizzazione</a:t>
            </a:r>
            <a:endParaRPr/>
          </a:p>
        </p:txBody>
      </p:sp>
      <p:pic>
        <p:nvPicPr>
          <p:cNvPr id="103" name="Google Shape;103;g3d0100df4ea_0_0"/>
          <p:cNvPicPr preferRelativeResize="0"/>
          <p:nvPr/>
        </p:nvPicPr>
        <p:blipFill>
          <a:blip r:embed="rId3">
            <a:alphaModFix/>
          </a:blip>
          <a:stretch>
            <a:fillRect/>
          </a:stretch>
        </p:blipFill>
        <p:spPr>
          <a:xfrm>
            <a:off x="4226651" y="2470751"/>
            <a:ext cx="4203076" cy="3834300"/>
          </a:xfrm>
          <a:prstGeom prst="rect">
            <a:avLst/>
          </a:prstGeom>
          <a:solidFill>
            <a:srgbClr val="D8D8D8"/>
          </a:solidFill>
          <a:ln>
            <a:noFill/>
          </a:ln>
        </p:spPr>
      </p:pic>
      <p:sp>
        <p:nvSpPr>
          <p:cNvPr id="104" name="Google Shape;104;g3d0100df4ea_0_0"/>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cf8b408c24_0_6"/>
          <p:cNvSpPr txBox="1"/>
          <p:nvPr>
            <p:ph idx="1" type="body"/>
          </p:nvPr>
        </p:nvSpPr>
        <p:spPr>
          <a:xfrm>
            <a:off x="323528" y="2314972"/>
            <a:ext cx="3816300" cy="4248600"/>
          </a:xfrm>
          <a:prstGeom prst="rect">
            <a:avLst/>
          </a:prstGeom>
          <a:noFill/>
          <a:ln>
            <a:noFill/>
          </a:ln>
        </p:spPr>
        <p:txBody>
          <a:bodyPr anchorCtr="0" anchor="t" bIns="0" lIns="0" spcFirstLastPara="1" rIns="0" wrap="square" tIns="0">
            <a:noAutofit/>
          </a:bodyPr>
          <a:lstStyle/>
          <a:p>
            <a:pPr indent="-342900" lvl="0" marL="457200" marR="0" rtl="0" algn="l">
              <a:lnSpc>
                <a:spcPct val="150000"/>
              </a:lnSpc>
              <a:spcBef>
                <a:spcPts val="0"/>
              </a:spcBef>
              <a:spcAft>
                <a:spcPts val="0"/>
              </a:spcAft>
              <a:buSzPts val="1800"/>
              <a:buAutoNum type="arabicPeriod"/>
            </a:pPr>
            <a:r>
              <a:rPr lang="it-IT" sz="1800"/>
              <a:t>Estrazione frame più luminoso</a:t>
            </a:r>
            <a:endParaRPr sz="1800"/>
          </a:p>
          <a:p>
            <a:pPr indent="-342900" lvl="0" marL="457200" rtl="0" algn="l">
              <a:lnSpc>
                <a:spcPct val="150000"/>
              </a:lnSpc>
              <a:spcBef>
                <a:spcPts val="0"/>
              </a:spcBef>
              <a:spcAft>
                <a:spcPts val="0"/>
              </a:spcAft>
              <a:buSzPts val="1800"/>
              <a:buAutoNum type="arabicPeriod"/>
            </a:pPr>
            <a:r>
              <a:rPr lang="it-IT" sz="1800"/>
              <a:t>Preprocessing dell’immagine:</a:t>
            </a:r>
            <a:endParaRPr sz="1800"/>
          </a:p>
          <a:p>
            <a:pPr indent="-342900" lvl="1" marL="914400" rtl="0" algn="l">
              <a:lnSpc>
                <a:spcPct val="150000"/>
              </a:lnSpc>
              <a:spcBef>
                <a:spcPts val="0"/>
              </a:spcBef>
              <a:spcAft>
                <a:spcPts val="0"/>
              </a:spcAft>
              <a:buSzPts val="1800"/>
              <a:buAutoNum type="alphaLcPeriod"/>
            </a:pPr>
            <a:r>
              <a:rPr lang="it-IT" sz="1800"/>
              <a:t>High pass filter</a:t>
            </a:r>
            <a:endParaRPr sz="1800"/>
          </a:p>
          <a:p>
            <a:pPr indent="-342900" lvl="1" marL="914400" rtl="0" algn="l">
              <a:lnSpc>
                <a:spcPct val="150000"/>
              </a:lnSpc>
              <a:spcBef>
                <a:spcPts val="0"/>
              </a:spcBef>
              <a:spcAft>
                <a:spcPts val="0"/>
              </a:spcAft>
              <a:buSzPts val="1800"/>
              <a:buAutoNum type="alphaLcPeriod"/>
            </a:pPr>
            <a:r>
              <a:rPr lang="it-IT" sz="1800"/>
              <a:t>CLAHE</a:t>
            </a:r>
            <a:endParaRPr sz="1800"/>
          </a:p>
          <a:p>
            <a:pPr indent="-342900" lvl="0" marL="457200" rtl="0" algn="l">
              <a:lnSpc>
                <a:spcPct val="150000"/>
              </a:lnSpc>
              <a:spcBef>
                <a:spcPts val="0"/>
              </a:spcBef>
              <a:spcAft>
                <a:spcPts val="0"/>
              </a:spcAft>
              <a:buSzPts val="1800"/>
              <a:buAutoNum type="arabicPeriod"/>
            </a:pPr>
            <a:r>
              <a:rPr lang="it-IT" sz="1800"/>
              <a:t>Algoritmo di Canny</a:t>
            </a:r>
            <a:endParaRPr sz="1800"/>
          </a:p>
          <a:p>
            <a:pPr indent="-342900" lvl="0" marL="457200" rtl="0" algn="l">
              <a:lnSpc>
                <a:spcPct val="150000"/>
              </a:lnSpc>
              <a:spcBef>
                <a:spcPts val="0"/>
              </a:spcBef>
              <a:spcAft>
                <a:spcPts val="0"/>
              </a:spcAft>
              <a:buSzPts val="1800"/>
              <a:buAutoNum type="arabicPeriod"/>
            </a:pPr>
            <a:r>
              <a:rPr lang="it-IT" sz="1800"/>
              <a:t>Morph closing</a:t>
            </a:r>
            <a:endParaRPr sz="1800"/>
          </a:p>
          <a:p>
            <a:pPr indent="-342900" lvl="0" marL="457200" rtl="0" algn="l">
              <a:lnSpc>
                <a:spcPct val="150000"/>
              </a:lnSpc>
              <a:spcBef>
                <a:spcPts val="0"/>
              </a:spcBef>
              <a:spcAft>
                <a:spcPts val="0"/>
              </a:spcAft>
              <a:buSzPts val="1800"/>
              <a:buAutoNum type="arabicPeriod"/>
            </a:pPr>
            <a:r>
              <a:rPr lang="it-IT" sz="1800"/>
              <a:t>Indicizzazione</a:t>
            </a:r>
            <a:endParaRPr sz="1800"/>
          </a:p>
          <a:p>
            <a:pPr indent="-342900" lvl="0" marL="457200" rtl="0" algn="l">
              <a:lnSpc>
                <a:spcPct val="150000"/>
              </a:lnSpc>
              <a:spcBef>
                <a:spcPts val="0"/>
              </a:spcBef>
              <a:spcAft>
                <a:spcPts val="0"/>
              </a:spcAft>
              <a:buSzPts val="1800"/>
              <a:buAutoNum type="arabicPeriod"/>
            </a:pPr>
            <a:r>
              <a:rPr lang="it-IT" sz="1800"/>
              <a:t>Allineamento ROI-per-ROI</a:t>
            </a:r>
            <a:endParaRPr sz="1800"/>
          </a:p>
          <a:p>
            <a:pPr indent="-342900" lvl="0" marL="457200" rtl="0" algn="l">
              <a:lnSpc>
                <a:spcPct val="150000"/>
              </a:lnSpc>
              <a:spcBef>
                <a:spcPts val="0"/>
              </a:spcBef>
              <a:spcAft>
                <a:spcPts val="0"/>
              </a:spcAft>
              <a:buSzPts val="1800"/>
              <a:buAutoNum type="arabicPeriod"/>
            </a:pPr>
            <a:r>
              <a:rPr lang="it-IT" sz="1800"/>
              <a:t>Differenziale</a:t>
            </a:r>
            <a:endParaRPr sz="1800"/>
          </a:p>
        </p:txBody>
      </p:sp>
      <p:sp>
        <p:nvSpPr>
          <p:cNvPr id="110" name="Google Shape;110;g3cf8b408c24_0_6"/>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Approccio</a:t>
            </a:r>
            <a:endParaRPr/>
          </a:p>
        </p:txBody>
      </p:sp>
      <p:sp>
        <p:nvSpPr>
          <p:cNvPr id="111" name="Google Shape;111;g3cf8b408c24_0_6"/>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cf8b408c24_0_44"/>
          <p:cNvSpPr txBox="1"/>
          <p:nvPr>
            <p:ph idx="1" type="body"/>
          </p:nvPr>
        </p:nvSpPr>
        <p:spPr>
          <a:xfrm>
            <a:off x="323525" y="1932147"/>
            <a:ext cx="38163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lang="it-IT"/>
              <a:t>Applicazione di High-Pass filter</a:t>
            </a:r>
            <a:endParaRPr/>
          </a:p>
        </p:txBody>
      </p:sp>
      <p:sp>
        <p:nvSpPr>
          <p:cNvPr id="117" name="Google Shape;117;g3cf8b408c24_0_44"/>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Preprocessing (1)</a:t>
            </a:r>
            <a:endParaRPr/>
          </a:p>
        </p:txBody>
      </p:sp>
      <p:pic>
        <p:nvPicPr>
          <p:cNvPr id="118" name="Google Shape;118;g3cf8b408c24_0_44" title="Schermata del 2026-03-13 11-28-26.png"/>
          <p:cNvPicPr preferRelativeResize="0"/>
          <p:nvPr/>
        </p:nvPicPr>
        <p:blipFill>
          <a:blip r:embed="rId3">
            <a:alphaModFix/>
          </a:blip>
          <a:stretch>
            <a:fillRect/>
          </a:stretch>
        </p:blipFill>
        <p:spPr>
          <a:xfrm>
            <a:off x="8359788" y="4197863"/>
            <a:ext cx="504825" cy="2505075"/>
          </a:xfrm>
          <a:prstGeom prst="rect">
            <a:avLst/>
          </a:prstGeom>
          <a:noFill/>
          <a:ln>
            <a:noFill/>
          </a:ln>
        </p:spPr>
      </p:pic>
      <p:pic>
        <p:nvPicPr>
          <p:cNvPr id="119" name="Google Shape;119;g3cf8b408c24_0_44" title="Step_1.jpg"/>
          <p:cNvPicPr preferRelativeResize="0"/>
          <p:nvPr/>
        </p:nvPicPr>
        <p:blipFill>
          <a:blip r:embed="rId4">
            <a:alphaModFix/>
          </a:blip>
          <a:stretch>
            <a:fillRect/>
          </a:stretch>
        </p:blipFill>
        <p:spPr>
          <a:xfrm>
            <a:off x="113074" y="2275038"/>
            <a:ext cx="8917852" cy="2635425"/>
          </a:xfrm>
          <a:prstGeom prst="rect">
            <a:avLst/>
          </a:prstGeom>
          <a:noFill/>
          <a:ln>
            <a:noFill/>
          </a:ln>
        </p:spPr>
      </p:pic>
      <p:sp>
        <p:nvSpPr>
          <p:cNvPr id="120" name="Google Shape;120;g3cf8b408c24_0_44"/>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cf9a8a822f_3_1"/>
          <p:cNvSpPr txBox="1"/>
          <p:nvPr>
            <p:ph idx="1" type="body"/>
          </p:nvPr>
        </p:nvSpPr>
        <p:spPr>
          <a:xfrm>
            <a:off x="323525" y="1932147"/>
            <a:ext cx="38163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lang="it-IT"/>
              <a:t>Applicazione CLAHE</a:t>
            </a:r>
            <a:endParaRPr/>
          </a:p>
        </p:txBody>
      </p:sp>
      <p:sp>
        <p:nvSpPr>
          <p:cNvPr id="126" name="Google Shape;126;g3cf9a8a822f_3_1"/>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Preprocessing (2)</a:t>
            </a:r>
            <a:endParaRPr/>
          </a:p>
        </p:txBody>
      </p:sp>
      <p:pic>
        <p:nvPicPr>
          <p:cNvPr id="127" name="Google Shape;127;g3cf9a8a822f_3_1" title="Schermata del 2026-03-13 11-28-26.png"/>
          <p:cNvPicPr preferRelativeResize="0"/>
          <p:nvPr/>
        </p:nvPicPr>
        <p:blipFill>
          <a:blip r:embed="rId3">
            <a:alphaModFix/>
          </a:blip>
          <a:stretch>
            <a:fillRect/>
          </a:stretch>
        </p:blipFill>
        <p:spPr>
          <a:xfrm>
            <a:off x="8359788" y="4197863"/>
            <a:ext cx="504825" cy="2505075"/>
          </a:xfrm>
          <a:prstGeom prst="rect">
            <a:avLst/>
          </a:prstGeom>
          <a:noFill/>
          <a:ln>
            <a:noFill/>
          </a:ln>
        </p:spPr>
      </p:pic>
      <p:pic>
        <p:nvPicPr>
          <p:cNvPr id="128" name="Google Shape;128;g3cf9a8a822f_3_1" title="Step_2.jpg"/>
          <p:cNvPicPr preferRelativeResize="0"/>
          <p:nvPr/>
        </p:nvPicPr>
        <p:blipFill>
          <a:blip r:embed="rId4">
            <a:alphaModFix/>
          </a:blip>
          <a:stretch>
            <a:fillRect/>
          </a:stretch>
        </p:blipFill>
        <p:spPr>
          <a:xfrm>
            <a:off x="111600" y="2275200"/>
            <a:ext cx="8917202" cy="2663900"/>
          </a:xfrm>
          <a:prstGeom prst="rect">
            <a:avLst/>
          </a:prstGeom>
          <a:noFill/>
          <a:ln>
            <a:noFill/>
          </a:ln>
        </p:spPr>
      </p:pic>
      <p:sp>
        <p:nvSpPr>
          <p:cNvPr id="129" name="Google Shape;129;g3cf9a8a822f_3_1"/>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cf9a8a822f_5_2"/>
          <p:cNvSpPr txBox="1"/>
          <p:nvPr>
            <p:ph idx="1" type="body"/>
          </p:nvPr>
        </p:nvSpPr>
        <p:spPr>
          <a:xfrm>
            <a:off x="323525" y="1932147"/>
            <a:ext cx="38163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a:p>
        </p:txBody>
      </p:sp>
      <p:sp>
        <p:nvSpPr>
          <p:cNvPr id="135" name="Google Shape;135;g3cf9a8a822f_5_2"/>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Algoritmo Canny</a:t>
            </a:r>
            <a:endParaRPr/>
          </a:p>
        </p:txBody>
      </p:sp>
      <p:pic>
        <p:nvPicPr>
          <p:cNvPr id="136" name="Google Shape;136;g3cf9a8a822f_5_2" title="Schermata del 2026-03-13 11-28-26.png"/>
          <p:cNvPicPr preferRelativeResize="0"/>
          <p:nvPr/>
        </p:nvPicPr>
        <p:blipFill>
          <a:blip r:embed="rId3">
            <a:alphaModFix/>
          </a:blip>
          <a:stretch>
            <a:fillRect/>
          </a:stretch>
        </p:blipFill>
        <p:spPr>
          <a:xfrm>
            <a:off x="8359788" y="4197863"/>
            <a:ext cx="504825" cy="2505075"/>
          </a:xfrm>
          <a:prstGeom prst="rect">
            <a:avLst/>
          </a:prstGeom>
          <a:noFill/>
          <a:ln>
            <a:noFill/>
          </a:ln>
        </p:spPr>
      </p:pic>
      <p:pic>
        <p:nvPicPr>
          <p:cNvPr id="137" name="Google Shape;137;g3cf9a8a822f_5_2" title="Step_3.jpg"/>
          <p:cNvPicPr preferRelativeResize="0"/>
          <p:nvPr/>
        </p:nvPicPr>
        <p:blipFill>
          <a:blip r:embed="rId4">
            <a:alphaModFix/>
          </a:blip>
          <a:stretch>
            <a:fillRect/>
          </a:stretch>
        </p:blipFill>
        <p:spPr>
          <a:xfrm>
            <a:off x="111600" y="2275200"/>
            <a:ext cx="8917202" cy="2635201"/>
          </a:xfrm>
          <a:prstGeom prst="rect">
            <a:avLst/>
          </a:prstGeom>
          <a:noFill/>
          <a:ln>
            <a:noFill/>
          </a:ln>
        </p:spPr>
      </p:pic>
      <p:sp>
        <p:nvSpPr>
          <p:cNvPr id="138" name="Google Shape;138;g3cf9a8a822f_5_2"/>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cf9a8a822f_5_9"/>
          <p:cNvSpPr txBox="1"/>
          <p:nvPr>
            <p:ph idx="1" type="body"/>
          </p:nvPr>
        </p:nvSpPr>
        <p:spPr>
          <a:xfrm>
            <a:off x="323525" y="1932147"/>
            <a:ext cx="38163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a:p>
        </p:txBody>
      </p:sp>
      <p:sp>
        <p:nvSpPr>
          <p:cNvPr id="144" name="Google Shape;144;g3cf9a8a822f_5_9"/>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Morph Closing</a:t>
            </a:r>
            <a:endParaRPr/>
          </a:p>
        </p:txBody>
      </p:sp>
      <p:pic>
        <p:nvPicPr>
          <p:cNvPr id="145" name="Google Shape;145;g3cf9a8a822f_5_9" title="Schermata del 2026-03-13 11-28-26.png"/>
          <p:cNvPicPr preferRelativeResize="0"/>
          <p:nvPr/>
        </p:nvPicPr>
        <p:blipFill>
          <a:blip r:embed="rId3">
            <a:alphaModFix/>
          </a:blip>
          <a:stretch>
            <a:fillRect/>
          </a:stretch>
        </p:blipFill>
        <p:spPr>
          <a:xfrm>
            <a:off x="8359788" y="4197863"/>
            <a:ext cx="504825" cy="2505075"/>
          </a:xfrm>
          <a:prstGeom prst="rect">
            <a:avLst/>
          </a:prstGeom>
          <a:noFill/>
          <a:ln>
            <a:noFill/>
          </a:ln>
        </p:spPr>
      </p:pic>
      <p:pic>
        <p:nvPicPr>
          <p:cNvPr id="146" name="Google Shape;146;g3cf9a8a822f_5_9" title="Step_4.jpg"/>
          <p:cNvPicPr preferRelativeResize="0"/>
          <p:nvPr/>
        </p:nvPicPr>
        <p:blipFill>
          <a:blip r:embed="rId4">
            <a:alphaModFix/>
          </a:blip>
          <a:stretch>
            <a:fillRect/>
          </a:stretch>
        </p:blipFill>
        <p:spPr>
          <a:xfrm>
            <a:off x="111600" y="2275200"/>
            <a:ext cx="8917202" cy="2635201"/>
          </a:xfrm>
          <a:prstGeom prst="rect">
            <a:avLst/>
          </a:prstGeom>
          <a:noFill/>
          <a:ln>
            <a:noFill/>
          </a:ln>
        </p:spPr>
      </p:pic>
      <p:sp>
        <p:nvSpPr>
          <p:cNvPr id="147" name="Google Shape;147;g3cf9a8a822f_5_9"/>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cf9a8a822f_5_16"/>
          <p:cNvSpPr txBox="1"/>
          <p:nvPr>
            <p:ph idx="1" type="body"/>
          </p:nvPr>
        </p:nvSpPr>
        <p:spPr>
          <a:xfrm>
            <a:off x="323525" y="1932147"/>
            <a:ext cx="38163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t/>
            </a:r>
            <a:endParaRPr/>
          </a:p>
        </p:txBody>
      </p:sp>
      <p:sp>
        <p:nvSpPr>
          <p:cNvPr id="153" name="Google Shape;153;g3cf9a8a822f_5_16"/>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Valid Contours</a:t>
            </a:r>
            <a:endParaRPr/>
          </a:p>
        </p:txBody>
      </p:sp>
      <p:pic>
        <p:nvPicPr>
          <p:cNvPr id="154" name="Google Shape;154;g3cf9a8a822f_5_16" title="Schermata del 2026-03-13 11-28-26.png"/>
          <p:cNvPicPr preferRelativeResize="0"/>
          <p:nvPr/>
        </p:nvPicPr>
        <p:blipFill>
          <a:blip r:embed="rId3">
            <a:alphaModFix/>
          </a:blip>
          <a:stretch>
            <a:fillRect/>
          </a:stretch>
        </p:blipFill>
        <p:spPr>
          <a:xfrm>
            <a:off x="8359788" y="4197863"/>
            <a:ext cx="504825" cy="2505075"/>
          </a:xfrm>
          <a:prstGeom prst="rect">
            <a:avLst/>
          </a:prstGeom>
          <a:noFill/>
          <a:ln>
            <a:noFill/>
          </a:ln>
        </p:spPr>
      </p:pic>
      <p:pic>
        <p:nvPicPr>
          <p:cNvPr id="155" name="Google Shape;155;g3cf9a8a822f_5_16" title="Step_5.jpg"/>
          <p:cNvPicPr preferRelativeResize="0"/>
          <p:nvPr/>
        </p:nvPicPr>
        <p:blipFill>
          <a:blip r:embed="rId4">
            <a:alphaModFix/>
          </a:blip>
          <a:stretch>
            <a:fillRect/>
          </a:stretch>
        </p:blipFill>
        <p:spPr>
          <a:xfrm>
            <a:off x="111600" y="2275200"/>
            <a:ext cx="8917202" cy="2635201"/>
          </a:xfrm>
          <a:prstGeom prst="rect">
            <a:avLst/>
          </a:prstGeom>
          <a:noFill/>
          <a:ln>
            <a:noFill/>
          </a:ln>
        </p:spPr>
      </p:pic>
      <p:sp>
        <p:nvSpPr>
          <p:cNvPr id="156" name="Google Shape;156;g3cf9a8a822f_5_16"/>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cf8b408c24_0_12"/>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Indicizzazione</a:t>
            </a:r>
            <a:endParaRPr/>
          </a:p>
        </p:txBody>
      </p:sp>
      <p:sp>
        <p:nvSpPr>
          <p:cNvPr id="162" name="Google Shape;162;g3cf8b408c24_0_12"/>
          <p:cNvSpPr txBox="1"/>
          <p:nvPr/>
        </p:nvSpPr>
        <p:spPr>
          <a:xfrm>
            <a:off x="4379150" y="2042900"/>
            <a:ext cx="39633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500" u="none" cap="none" strike="noStrike">
                <a:solidFill>
                  <a:srgbClr val="000000"/>
                </a:solidFill>
                <a:latin typeface="Arial"/>
                <a:ea typeface="Arial"/>
                <a:cs typeface="Arial"/>
                <a:sym typeface="Arial"/>
              </a:rPr>
              <a:t>Dopo </a:t>
            </a:r>
            <a:r>
              <a:rPr b="1" i="0" lang="it-IT" sz="1500" u="none" cap="none" strike="noStrike">
                <a:solidFill>
                  <a:schemeClr val="dk1"/>
                </a:solidFill>
                <a:latin typeface="Courier New"/>
                <a:ea typeface="Courier New"/>
                <a:cs typeface="Courier New"/>
                <a:sym typeface="Courier New"/>
              </a:rPr>
              <a:t>match_contours_by_center()</a:t>
            </a:r>
            <a:endParaRPr b="0" i="0" sz="1500" u="none" cap="none" strike="noStrike">
              <a:solidFill>
                <a:srgbClr val="000000"/>
              </a:solidFill>
              <a:latin typeface="Arial"/>
              <a:ea typeface="Arial"/>
              <a:cs typeface="Arial"/>
              <a:sym typeface="Arial"/>
            </a:endParaRPr>
          </a:p>
        </p:txBody>
      </p:sp>
      <p:sp>
        <p:nvSpPr>
          <p:cNvPr id="163" name="Google Shape;163;g3cf8b408c24_0_12"/>
          <p:cNvSpPr txBox="1"/>
          <p:nvPr/>
        </p:nvSpPr>
        <p:spPr>
          <a:xfrm>
            <a:off x="323625" y="2042900"/>
            <a:ext cx="39633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500" u="none" cap="none" strike="noStrike">
                <a:solidFill>
                  <a:srgbClr val="000000"/>
                </a:solidFill>
                <a:latin typeface="Arial"/>
                <a:ea typeface="Arial"/>
                <a:cs typeface="Arial"/>
                <a:sym typeface="Arial"/>
              </a:rPr>
              <a:t>Prima di </a:t>
            </a:r>
            <a:r>
              <a:rPr b="1" i="0" lang="it-IT" sz="1500" u="none" cap="none" strike="noStrike">
                <a:solidFill>
                  <a:srgbClr val="000000"/>
                </a:solidFill>
                <a:latin typeface="Courier New"/>
                <a:ea typeface="Courier New"/>
                <a:cs typeface="Courier New"/>
                <a:sym typeface="Courier New"/>
              </a:rPr>
              <a:t>match_contours_by_center()</a:t>
            </a:r>
            <a:endParaRPr b="1" i="0" sz="1500" u="none" cap="none" strike="noStrike">
              <a:solidFill>
                <a:srgbClr val="000000"/>
              </a:solidFill>
              <a:latin typeface="Courier New"/>
              <a:ea typeface="Courier New"/>
              <a:cs typeface="Courier New"/>
              <a:sym typeface="Courier New"/>
            </a:endParaRPr>
          </a:p>
        </p:txBody>
      </p:sp>
      <p:pic>
        <p:nvPicPr>
          <p:cNvPr id="164" name="Google Shape;164;g3cf8b408c24_0_12" title="01_dopo_bounding_index_raw.jpg"/>
          <p:cNvPicPr preferRelativeResize="0"/>
          <p:nvPr/>
        </p:nvPicPr>
        <p:blipFill rotWithShape="1">
          <a:blip r:embed="rId3">
            <a:alphaModFix/>
          </a:blip>
          <a:srcRect b="0" l="0" r="0" t="0"/>
          <a:stretch/>
        </p:blipFill>
        <p:spPr>
          <a:xfrm>
            <a:off x="323525" y="4067121"/>
            <a:ext cx="3963200" cy="1100875"/>
          </a:xfrm>
          <a:prstGeom prst="rect">
            <a:avLst/>
          </a:prstGeom>
          <a:noFill/>
          <a:ln>
            <a:noFill/>
          </a:ln>
        </p:spPr>
      </p:pic>
      <p:pic>
        <p:nvPicPr>
          <p:cNvPr id="165" name="Google Shape;165;g3cf8b408c24_0_12" title="01_prima_bounding_index_raw.jpg"/>
          <p:cNvPicPr preferRelativeResize="0"/>
          <p:nvPr/>
        </p:nvPicPr>
        <p:blipFill rotWithShape="1">
          <a:blip r:embed="rId4">
            <a:alphaModFix/>
          </a:blip>
          <a:srcRect b="0" l="0" r="0" t="0"/>
          <a:stretch/>
        </p:blipFill>
        <p:spPr>
          <a:xfrm>
            <a:off x="323525" y="2599100"/>
            <a:ext cx="3963200" cy="1161096"/>
          </a:xfrm>
          <a:prstGeom prst="rect">
            <a:avLst/>
          </a:prstGeom>
          <a:noFill/>
          <a:ln>
            <a:noFill/>
          </a:ln>
        </p:spPr>
      </p:pic>
      <p:pic>
        <p:nvPicPr>
          <p:cNvPr id="166" name="Google Shape;166;g3cf8b408c24_0_12" title="02_dopo_bounding_index.jpg"/>
          <p:cNvPicPr preferRelativeResize="0"/>
          <p:nvPr/>
        </p:nvPicPr>
        <p:blipFill rotWithShape="1">
          <a:blip r:embed="rId5">
            <a:alphaModFix/>
          </a:blip>
          <a:srcRect b="0" l="0" r="0" t="0"/>
          <a:stretch/>
        </p:blipFill>
        <p:spPr>
          <a:xfrm>
            <a:off x="4379150" y="4067115"/>
            <a:ext cx="3963200" cy="1100889"/>
          </a:xfrm>
          <a:prstGeom prst="rect">
            <a:avLst/>
          </a:prstGeom>
          <a:noFill/>
          <a:ln>
            <a:noFill/>
          </a:ln>
        </p:spPr>
      </p:pic>
      <p:pic>
        <p:nvPicPr>
          <p:cNvPr id="167" name="Google Shape;167;g3cf8b408c24_0_12" title="02_prima_bounding_index.jpg"/>
          <p:cNvPicPr preferRelativeResize="0"/>
          <p:nvPr/>
        </p:nvPicPr>
        <p:blipFill rotWithShape="1">
          <a:blip r:embed="rId6">
            <a:alphaModFix/>
          </a:blip>
          <a:srcRect b="0" l="0" r="0" t="0"/>
          <a:stretch/>
        </p:blipFill>
        <p:spPr>
          <a:xfrm>
            <a:off x="4379150" y="2599100"/>
            <a:ext cx="3963197" cy="1161093"/>
          </a:xfrm>
          <a:prstGeom prst="rect">
            <a:avLst/>
          </a:prstGeom>
          <a:noFill/>
          <a:ln>
            <a:noFill/>
          </a:ln>
        </p:spPr>
      </p:pic>
      <p:sp>
        <p:nvSpPr>
          <p:cNvPr id="168" name="Google Shape;168;g3cf8b408c24_0_12"/>
          <p:cNvSpPr txBox="1"/>
          <p:nvPr/>
        </p:nvSpPr>
        <p:spPr>
          <a:xfrm>
            <a:off x="323525" y="5533950"/>
            <a:ext cx="2955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800" u="none" cap="none" strike="noStrike">
                <a:solidFill>
                  <a:srgbClr val="000000"/>
                </a:solidFill>
                <a:latin typeface="Arial"/>
                <a:ea typeface="Arial"/>
                <a:cs typeface="Arial"/>
                <a:sym typeface="Arial"/>
              </a:rPr>
              <a:t>🔴 </a:t>
            </a:r>
            <a:r>
              <a:rPr b="0" i="0" lang="it-IT" sz="1800" u="none" cap="none" strike="noStrike">
                <a:solidFill>
                  <a:srgbClr val="FF0000"/>
                </a:solidFill>
                <a:latin typeface="Arial"/>
                <a:ea typeface="Arial"/>
                <a:cs typeface="Arial"/>
                <a:sym typeface="Arial"/>
              </a:rPr>
              <a:t>Rosso</a:t>
            </a:r>
            <a:r>
              <a:rPr b="0" i="0" lang="it-IT" sz="1800" u="none" cap="none" strike="noStrike">
                <a:solidFill>
                  <a:srgbClr val="000000"/>
                </a:solidFill>
                <a:latin typeface="Arial"/>
                <a:ea typeface="Arial"/>
                <a:cs typeface="Arial"/>
                <a:sym typeface="Arial"/>
              </a:rPr>
              <a:t>: analisi prima</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it-IT" sz="1800" u="none" cap="none" strike="noStrike">
                <a:solidFill>
                  <a:srgbClr val="000000"/>
                </a:solidFill>
                <a:latin typeface="Arial"/>
                <a:ea typeface="Arial"/>
                <a:cs typeface="Arial"/>
                <a:sym typeface="Arial"/>
              </a:rPr>
              <a:t>🔵 </a:t>
            </a:r>
            <a:r>
              <a:rPr b="0" i="0" lang="it-IT" sz="1800" u="none" cap="none" strike="noStrike">
                <a:solidFill>
                  <a:schemeClr val="accent1"/>
                </a:solidFill>
                <a:latin typeface="Arial"/>
                <a:ea typeface="Arial"/>
                <a:cs typeface="Arial"/>
                <a:sym typeface="Arial"/>
              </a:rPr>
              <a:t>Blu</a:t>
            </a:r>
            <a:r>
              <a:rPr b="0" i="0" lang="it-IT" sz="1800" u="none" cap="none" strike="noStrike">
                <a:solidFill>
                  <a:srgbClr val="000000"/>
                </a:solidFill>
                <a:latin typeface="Arial"/>
                <a:ea typeface="Arial"/>
                <a:cs typeface="Arial"/>
                <a:sym typeface="Arial"/>
              </a:rPr>
              <a:t>: analisi dopo</a:t>
            </a:r>
            <a:endParaRPr b="0" i="0" sz="1800" u="none" cap="none" strike="noStrike">
              <a:solidFill>
                <a:srgbClr val="000000"/>
              </a:solidFill>
              <a:latin typeface="Arial"/>
              <a:ea typeface="Arial"/>
              <a:cs typeface="Arial"/>
              <a:sym typeface="Arial"/>
            </a:endParaRPr>
          </a:p>
        </p:txBody>
      </p:sp>
      <p:sp>
        <p:nvSpPr>
          <p:cNvPr id="169" name="Google Shape;169;g3cf8b408c24_0_12"/>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cf8b408c24_0_38"/>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Allineamento</a:t>
            </a:r>
            <a:endParaRPr/>
          </a:p>
        </p:txBody>
      </p:sp>
      <p:pic>
        <p:nvPicPr>
          <p:cNvPr id="175" name="Google Shape;175;g3cf8b408c24_0_38" title="03_trasformazioni_geometriche.png"/>
          <p:cNvPicPr preferRelativeResize="0"/>
          <p:nvPr/>
        </p:nvPicPr>
        <p:blipFill rotWithShape="1">
          <a:blip r:embed="rId3">
            <a:alphaModFix/>
          </a:blip>
          <a:srcRect b="0" l="27548" r="33299" t="24466"/>
          <a:stretch/>
        </p:blipFill>
        <p:spPr>
          <a:xfrm>
            <a:off x="3855125" y="1678198"/>
            <a:ext cx="4317302" cy="4392209"/>
          </a:xfrm>
          <a:prstGeom prst="rect">
            <a:avLst/>
          </a:prstGeom>
          <a:noFill/>
          <a:ln>
            <a:noFill/>
          </a:ln>
        </p:spPr>
      </p:pic>
      <p:sp>
        <p:nvSpPr>
          <p:cNvPr id="176" name="Google Shape;176;g3cf8b408c24_0_38"/>
          <p:cNvSpPr txBox="1"/>
          <p:nvPr>
            <p:ph idx="1" type="body"/>
          </p:nvPr>
        </p:nvSpPr>
        <p:spPr>
          <a:xfrm>
            <a:off x="323525" y="2314975"/>
            <a:ext cx="3428400" cy="4248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400"/>
              <a:buFont typeface="Arial"/>
              <a:buNone/>
            </a:pPr>
            <a:r>
              <a:rPr lang="it-IT" sz="1800"/>
              <a:t>Centriamo le ROI spostando i bounding circle dell’analisi dopo sopra quelle dell’analisi prima</a:t>
            </a:r>
            <a:endParaRPr sz="1800"/>
          </a:p>
          <a:p>
            <a:pPr indent="0" lvl="0" marL="0" rtl="0" algn="l">
              <a:lnSpc>
                <a:spcPct val="100000"/>
              </a:lnSpc>
              <a:spcBef>
                <a:spcPts val="0"/>
              </a:spcBef>
              <a:spcAft>
                <a:spcPts val="0"/>
              </a:spcAft>
              <a:buClr>
                <a:schemeClr val="dk1"/>
              </a:buClr>
              <a:buSzPts val="1400"/>
              <a:buFont typeface="Arial"/>
              <a:buNone/>
            </a:pPr>
            <a:r>
              <a:t/>
            </a:r>
            <a:endParaRPr sz="1800"/>
          </a:p>
          <a:p>
            <a:pPr indent="0" lvl="0" marL="0" rtl="0" algn="l">
              <a:lnSpc>
                <a:spcPct val="100000"/>
              </a:lnSpc>
              <a:spcBef>
                <a:spcPts val="0"/>
              </a:spcBef>
              <a:spcAft>
                <a:spcPts val="0"/>
              </a:spcAft>
              <a:buClr>
                <a:schemeClr val="dk1"/>
              </a:buClr>
              <a:buSzPts val="1100"/>
              <a:buFont typeface="Arial"/>
              <a:buNone/>
            </a:pPr>
            <a:r>
              <a:rPr lang="it-IT" sz="1800"/>
              <a:t>Le frecce in nero rappresentano lo spostamento (offset) del centro</a:t>
            </a:r>
            <a:endParaRPr sz="1800"/>
          </a:p>
        </p:txBody>
      </p:sp>
      <p:sp>
        <p:nvSpPr>
          <p:cNvPr id="177" name="Google Shape;177;g3cf8b408c24_0_38"/>
          <p:cNvSpPr txBox="1"/>
          <p:nvPr/>
        </p:nvSpPr>
        <p:spPr>
          <a:xfrm>
            <a:off x="323525" y="5533950"/>
            <a:ext cx="43173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800" u="none" cap="none" strike="noStrike">
                <a:solidFill>
                  <a:srgbClr val="000000"/>
                </a:solidFill>
                <a:latin typeface="Arial"/>
                <a:ea typeface="Arial"/>
                <a:cs typeface="Arial"/>
                <a:sym typeface="Arial"/>
              </a:rPr>
              <a:t>🔴 </a:t>
            </a:r>
            <a:r>
              <a:rPr b="0" i="0" lang="it-IT" sz="1800" u="none" cap="none" strike="noStrike">
                <a:solidFill>
                  <a:srgbClr val="FF0000"/>
                </a:solidFill>
                <a:latin typeface="Arial"/>
                <a:ea typeface="Arial"/>
                <a:cs typeface="Arial"/>
                <a:sym typeface="Arial"/>
              </a:rPr>
              <a:t>Rosso</a:t>
            </a:r>
            <a:r>
              <a:rPr b="0" i="0" lang="it-IT" sz="1800" u="none" cap="none" strike="noStrike">
                <a:solidFill>
                  <a:srgbClr val="000000"/>
                </a:solidFill>
                <a:latin typeface="Arial"/>
                <a:ea typeface="Arial"/>
                <a:cs typeface="Arial"/>
                <a:sym typeface="Arial"/>
              </a:rPr>
              <a:t>: analisi prima</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it-IT" sz="1800" u="none" cap="none" strike="noStrike">
                <a:solidFill>
                  <a:srgbClr val="000000"/>
                </a:solidFill>
                <a:latin typeface="Arial"/>
                <a:ea typeface="Arial"/>
                <a:cs typeface="Arial"/>
                <a:sym typeface="Arial"/>
              </a:rPr>
              <a:t>🔵 </a:t>
            </a:r>
            <a:r>
              <a:rPr b="0" i="0" lang="it-IT" sz="1800" u="none" cap="none" strike="noStrike">
                <a:solidFill>
                  <a:schemeClr val="accent1"/>
                </a:solidFill>
                <a:latin typeface="Arial"/>
                <a:ea typeface="Arial"/>
                <a:cs typeface="Arial"/>
                <a:sym typeface="Arial"/>
              </a:rPr>
              <a:t>Blu</a:t>
            </a:r>
            <a:r>
              <a:rPr b="0" i="0" lang="it-IT" sz="1800" u="none" cap="none" strike="noStrike">
                <a:solidFill>
                  <a:srgbClr val="000000"/>
                </a:solidFill>
                <a:latin typeface="Arial"/>
                <a:ea typeface="Arial"/>
                <a:cs typeface="Arial"/>
                <a:sym typeface="Arial"/>
              </a:rPr>
              <a:t>: analisi dopo</a:t>
            </a:r>
            <a:endParaRPr b="0" i="0" sz="1800" u="none" cap="none" strike="noStrike">
              <a:solidFill>
                <a:srgbClr val="000000"/>
              </a:solidFill>
              <a:latin typeface="Arial"/>
              <a:ea typeface="Arial"/>
              <a:cs typeface="Arial"/>
              <a:sym typeface="Arial"/>
            </a:endParaRPr>
          </a:p>
        </p:txBody>
      </p:sp>
      <p:sp>
        <p:nvSpPr>
          <p:cNvPr id="178" name="Google Shape;178;g3cf8b408c24_0_38"/>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cf8b408c24_0_18"/>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Risultati (1)</a:t>
            </a:r>
            <a:endParaRPr/>
          </a:p>
        </p:txBody>
      </p:sp>
      <p:pic>
        <p:nvPicPr>
          <p:cNvPr id="184" name="Google Shape;184;g3cf8b408c24_0_18" title="contorno_13_01_patch_prima.png"/>
          <p:cNvPicPr preferRelativeResize="0"/>
          <p:nvPr/>
        </p:nvPicPr>
        <p:blipFill rotWithShape="1">
          <a:blip r:embed="rId3">
            <a:alphaModFix/>
          </a:blip>
          <a:srcRect b="0" l="0" r="0" t="0"/>
          <a:stretch/>
        </p:blipFill>
        <p:spPr>
          <a:xfrm>
            <a:off x="307703" y="2352558"/>
            <a:ext cx="1847850" cy="1847850"/>
          </a:xfrm>
          <a:prstGeom prst="rect">
            <a:avLst/>
          </a:prstGeom>
          <a:noFill/>
          <a:ln>
            <a:noFill/>
          </a:ln>
        </p:spPr>
      </p:pic>
      <p:pic>
        <p:nvPicPr>
          <p:cNvPr id="185" name="Google Shape;185;g3cf8b408c24_0_18" title="contorno_13_02_patch_dopo.png"/>
          <p:cNvPicPr preferRelativeResize="0"/>
          <p:nvPr/>
        </p:nvPicPr>
        <p:blipFill rotWithShape="1">
          <a:blip r:embed="rId4">
            <a:alphaModFix/>
          </a:blip>
          <a:srcRect b="0" l="0" r="0" t="0"/>
          <a:stretch/>
        </p:blipFill>
        <p:spPr>
          <a:xfrm>
            <a:off x="2307953" y="2352558"/>
            <a:ext cx="1847850" cy="1847850"/>
          </a:xfrm>
          <a:prstGeom prst="rect">
            <a:avLst/>
          </a:prstGeom>
          <a:noFill/>
          <a:ln>
            <a:noFill/>
          </a:ln>
        </p:spPr>
      </p:pic>
      <p:pic>
        <p:nvPicPr>
          <p:cNvPr id="186" name="Google Shape;186;g3cf8b408c24_0_18" title="contorno_13_03_diff.png"/>
          <p:cNvPicPr preferRelativeResize="0"/>
          <p:nvPr/>
        </p:nvPicPr>
        <p:blipFill rotWithShape="1">
          <a:blip r:embed="rId5">
            <a:alphaModFix/>
          </a:blip>
          <a:srcRect b="0" l="0" r="0" t="0"/>
          <a:stretch/>
        </p:blipFill>
        <p:spPr>
          <a:xfrm>
            <a:off x="4308203" y="2352558"/>
            <a:ext cx="1847850" cy="1847850"/>
          </a:xfrm>
          <a:prstGeom prst="rect">
            <a:avLst/>
          </a:prstGeom>
          <a:noFill/>
          <a:ln>
            <a:noFill/>
          </a:ln>
        </p:spPr>
      </p:pic>
      <p:pic>
        <p:nvPicPr>
          <p:cNvPr id="187" name="Google Shape;187;g3cf8b408c24_0_18" title="contorno_13_04_diff_clahe.png"/>
          <p:cNvPicPr preferRelativeResize="0"/>
          <p:nvPr/>
        </p:nvPicPr>
        <p:blipFill rotWithShape="1">
          <a:blip r:embed="rId6">
            <a:alphaModFix/>
          </a:blip>
          <a:srcRect b="0" l="0" r="0" t="0"/>
          <a:stretch/>
        </p:blipFill>
        <p:spPr>
          <a:xfrm>
            <a:off x="6340403" y="2352558"/>
            <a:ext cx="1847850" cy="1847850"/>
          </a:xfrm>
          <a:prstGeom prst="rect">
            <a:avLst/>
          </a:prstGeom>
          <a:noFill/>
          <a:ln>
            <a:noFill/>
          </a:ln>
        </p:spPr>
      </p:pic>
      <p:sp>
        <p:nvSpPr>
          <p:cNvPr id="188" name="Google Shape;188;g3cf8b408c24_0_18"/>
          <p:cNvSpPr txBox="1"/>
          <p:nvPr/>
        </p:nvSpPr>
        <p:spPr>
          <a:xfrm>
            <a:off x="742775" y="4638675"/>
            <a:ext cx="9777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Arial"/>
                <a:ea typeface="Arial"/>
                <a:cs typeface="Arial"/>
                <a:sym typeface="Arial"/>
              </a:rPr>
              <a:t>ROI 14</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it-IT" sz="1800" u="none" cap="none" strike="noStrike">
                <a:solidFill>
                  <a:srgbClr val="FF0000"/>
                </a:solidFill>
                <a:latin typeface="Arial"/>
                <a:ea typeface="Arial"/>
                <a:cs typeface="Arial"/>
                <a:sym typeface="Arial"/>
              </a:rPr>
              <a:t>Prima</a:t>
            </a:r>
            <a:endParaRPr b="0" i="0" sz="1800" u="none" cap="none" strike="noStrike">
              <a:solidFill>
                <a:srgbClr val="FF0000"/>
              </a:solidFill>
              <a:latin typeface="Arial"/>
              <a:ea typeface="Arial"/>
              <a:cs typeface="Arial"/>
              <a:sym typeface="Arial"/>
            </a:endParaRPr>
          </a:p>
        </p:txBody>
      </p:sp>
      <p:sp>
        <p:nvSpPr>
          <p:cNvPr id="189" name="Google Shape;189;g3cf8b408c24_0_18"/>
          <p:cNvSpPr txBox="1"/>
          <p:nvPr/>
        </p:nvSpPr>
        <p:spPr>
          <a:xfrm>
            <a:off x="2743025" y="4638675"/>
            <a:ext cx="9777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Arial"/>
                <a:ea typeface="Arial"/>
                <a:cs typeface="Arial"/>
                <a:sym typeface="Arial"/>
              </a:rPr>
              <a:t>ROI 14</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it-IT" sz="1800" u="none" cap="none" strike="noStrike">
                <a:solidFill>
                  <a:schemeClr val="accent1"/>
                </a:solidFill>
                <a:latin typeface="Arial"/>
                <a:ea typeface="Arial"/>
                <a:cs typeface="Arial"/>
                <a:sym typeface="Arial"/>
              </a:rPr>
              <a:t>Dopo</a:t>
            </a:r>
            <a:endParaRPr b="0" i="0" sz="1800" u="none" cap="none" strike="noStrike">
              <a:solidFill>
                <a:schemeClr val="accent1"/>
              </a:solidFill>
              <a:latin typeface="Arial"/>
              <a:ea typeface="Arial"/>
              <a:cs typeface="Arial"/>
              <a:sym typeface="Arial"/>
            </a:endParaRPr>
          </a:p>
        </p:txBody>
      </p:sp>
      <p:sp>
        <p:nvSpPr>
          <p:cNvPr id="190" name="Google Shape;190;g3cf8b408c24_0_18"/>
          <p:cNvSpPr txBox="1"/>
          <p:nvPr/>
        </p:nvSpPr>
        <p:spPr>
          <a:xfrm>
            <a:off x="4376525" y="4777275"/>
            <a:ext cx="17112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it-IT" sz="1800" u="none" cap="none" strike="noStrike">
                <a:solidFill>
                  <a:srgbClr val="FF0000"/>
                </a:solidFill>
                <a:latin typeface="Arial"/>
                <a:ea typeface="Arial"/>
                <a:cs typeface="Arial"/>
                <a:sym typeface="Arial"/>
              </a:rPr>
              <a:t>Prima</a:t>
            </a:r>
            <a:r>
              <a:rPr b="0" i="0" lang="it-IT" sz="1800" u="none" cap="none" strike="noStrike">
                <a:solidFill>
                  <a:schemeClr val="dk1"/>
                </a:solidFill>
                <a:latin typeface="Arial"/>
                <a:ea typeface="Arial"/>
                <a:cs typeface="Arial"/>
                <a:sym typeface="Arial"/>
              </a:rPr>
              <a:t> - </a:t>
            </a:r>
            <a:r>
              <a:rPr b="0" i="0" lang="it-IT" sz="1800" u="none" cap="none" strike="noStrike">
                <a:solidFill>
                  <a:schemeClr val="accent1"/>
                </a:solidFill>
                <a:latin typeface="Arial"/>
                <a:ea typeface="Arial"/>
                <a:cs typeface="Arial"/>
                <a:sym typeface="Arial"/>
              </a:rPr>
              <a:t>Dopo</a:t>
            </a:r>
            <a:endParaRPr b="0" i="0" sz="1800" u="none" cap="none" strike="noStrike">
              <a:solidFill>
                <a:srgbClr val="FF0000"/>
              </a:solidFill>
              <a:latin typeface="Arial"/>
              <a:ea typeface="Arial"/>
              <a:cs typeface="Arial"/>
              <a:sym typeface="Arial"/>
            </a:endParaRPr>
          </a:p>
        </p:txBody>
      </p:sp>
      <p:sp>
        <p:nvSpPr>
          <p:cNvPr id="191" name="Google Shape;191;g3cf8b408c24_0_18"/>
          <p:cNvSpPr txBox="1"/>
          <p:nvPr/>
        </p:nvSpPr>
        <p:spPr>
          <a:xfrm>
            <a:off x="6408725" y="4777275"/>
            <a:ext cx="17112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it-IT" sz="1800" u="none" cap="none" strike="noStrike">
                <a:solidFill>
                  <a:srgbClr val="000000"/>
                </a:solidFill>
                <a:latin typeface="Arial"/>
                <a:ea typeface="Arial"/>
                <a:cs typeface="Arial"/>
                <a:sym typeface="Arial"/>
              </a:rPr>
              <a:t>diff. + CLAHE</a:t>
            </a:r>
            <a:endParaRPr b="0" i="0" sz="1800" u="none" cap="none" strike="noStrike">
              <a:solidFill>
                <a:schemeClr val="accent1"/>
              </a:solidFill>
              <a:latin typeface="Arial"/>
              <a:ea typeface="Arial"/>
              <a:cs typeface="Arial"/>
              <a:sym typeface="Arial"/>
            </a:endParaRPr>
          </a:p>
        </p:txBody>
      </p:sp>
      <p:sp>
        <p:nvSpPr>
          <p:cNvPr id="192" name="Google Shape;192;g3cf8b408c24_0_18"/>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cf8b408c24_0_59"/>
          <p:cNvSpPr txBox="1"/>
          <p:nvPr>
            <p:ph idx="1" type="body"/>
          </p:nvPr>
        </p:nvSpPr>
        <p:spPr>
          <a:xfrm>
            <a:off x="323522" y="2314975"/>
            <a:ext cx="7920900" cy="4248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400"/>
              <a:buFont typeface="Arial"/>
              <a:buNone/>
            </a:pPr>
            <a:r>
              <a:rPr lang="it-IT" sz="1800"/>
              <a:t>Differenziale </a:t>
            </a:r>
            <a:r>
              <a:rPr lang="it-IT" sz="1800">
                <a:solidFill>
                  <a:srgbClr val="FF0000"/>
                </a:solidFill>
              </a:rPr>
              <a:t>Prima</a:t>
            </a:r>
            <a:r>
              <a:rPr lang="it-IT" sz="1800"/>
              <a:t> - </a:t>
            </a:r>
            <a:r>
              <a:rPr lang="it-IT" sz="1800">
                <a:solidFill>
                  <a:schemeClr val="accent1"/>
                </a:solidFill>
              </a:rPr>
              <a:t>Dopo</a:t>
            </a:r>
            <a:endParaRPr sz="1800">
              <a:solidFill>
                <a:schemeClr val="accent1"/>
              </a:solidFill>
            </a:endParaRPr>
          </a:p>
          <a:p>
            <a:pPr indent="0" lvl="0" marL="0" rtl="0" algn="l">
              <a:lnSpc>
                <a:spcPct val="100000"/>
              </a:lnSpc>
              <a:spcBef>
                <a:spcPts val="0"/>
              </a:spcBef>
              <a:spcAft>
                <a:spcPts val="0"/>
              </a:spcAft>
              <a:buClr>
                <a:schemeClr val="dk1"/>
              </a:buClr>
              <a:buSzPts val="1400"/>
              <a:buFont typeface="Arial"/>
              <a:buNone/>
            </a:pPr>
            <a:r>
              <a:rPr lang="it-IT" sz="1800"/>
              <a:t> + CLAHE</a:t>
            </a:r>
            <a:endParaRPr sz="1800"/>
          </a:p>
        </p:txBody>
      </p:sp>
      <p:sp>
        <p:nvSpPr>
          <p:cNvPr id="198" name="Google Shape;198;g3cf8b408c24_0_59"/>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Risultati (2)</a:t>
            </a:r>
            <a:endParaRPr/>
          </a:p>
        </p:txBody>
      </p:sp>
      <p:pic>
        <p:nvPicPr>
          <p:cNvPr id="199" name="Google Shape;199;g3cf8b408c24_0_59" title="04_diff_clahe.png"/>
          <p:cNvPicPr preferRelativeResize="0"/>
          <p:nvPr/>
        </p:nvPicPr>
        <p:blipFill rotWithShape="1">
          <a:blip r:embed="rId3">
            <a:alphaModFix/>
          </a:blip>
          <a:srcRect b="0" l="24709" r="31215" t="21777"/>
          <a:stretch/>
        </p:blipFill>
        <p:spPr>
          <a:xfrm>
            <a:off x="4142200" y="2553250"/>
            <a:ext cx="4030223" cy="3772051"/>
          </a:xfrm>
          <a:prstGeom prst="rect">
            <a:avLst/>
          </a:prstGeom>
          <a:noFill/>
          <a:ln>
            <a:noFill/>
          </a:ln>
        </p:spPr>
      </p:pic>
      <p:sp>
        <p:nvSpPr>
          <p:cNvPr id="200" name="Google Shape;200;g3cf8b408c24_0_59"/>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cf8b408c24_0_65"/>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Limitazioni</a:t>
            </a:r>
            <a:endParaRPr/>
          </a:p>
        </p:txBody>
      </p:sp>
      <p:sp>
        <p:nvSpPr>
          <p:cNvPr id="206" name="Google Shape;206;g3cf8b408c24_0_65"/>
          <p:cNvSpPr txBox="1"/>
          <p:nvPr>
            <p:ph idx="1" type="body"/>
          </p:nvPr>
        </p:nvSpPr>
        <p:spPr>
          <a:xfrm>
            <a:off x="323525" y="2314975"/>
            <a:ext cx="8120100" cy="4248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it-IT" sz="1800"/>
              <a:t>Segmentazione globale (sull’intera immagine), </a:t>
            </a:r>
            <a:r>
              <a:rPr b="1" lang="it-IT" sz="1800"/>
              <a:t>parametrizzazione non ottimale</a:t>
            </a:r>
            <a:endParaRPr b="1"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rPr lang="it-IT" sz="1800">
                <a:solidFill>
                  <a:schemeClr val="accent1"/>
                </a:solidFill>
              </a:rPr>
              <a:t>Soluzione</a:t>
            </a:r>
            <a:r>
              <a:rPr lang="it-IT" sz="1800"/>
              <a:t>: utilizzare la pipeline attuale per rilevare ed indicizzare porzioni dell’immagine dove è sicuro ci siano le ROI e lavorare su ogni singolo patch indipendentemente</a:t>
            </a:r>
            <a:endParaRPr sz="1800"/>
          </a:p>
        </p:txBody>
      </p:sp>
      <p:pic>
        <p:nvPicPr>
          <p:cNvPr id="207" name="Google Shape;207;g3cf8b408c24_0_65" title="Schermata del 2026-03-13 12-53-14.png"/>
          <p:cNvPicPr preferRelativeResize="0"/>
          <p:nvPr/>
        </p:nvPicPr>
        <p:blipFill rotWithShape="1">
          <a:blip r:embed="rId3">
            <a:alphaModFix/>
          </a:blip>
          <a:srcRect b="0" l="0" r="0" t="0"/>
          <a:stretch/>
        </p:blipFill>
        <p:spPr>
          <a:xfrm>
            <a:off x="3239237" y="3279825"/>
            <a:ext cx="2017464" cy="1987240"/>
          </a:xfrm>
          <a:prstGeom prst="rect">
            <a:avLst/>
          </a:prstGeom>
          <a:noFill/>
          <a:ln>
            <a:noFill/>
          </a:ln>
        </p:spPr>
      </p:pic>
      <p:pic>
        <p:nvPicPr>
          <p:cNvPr id="208" name="Google Shape;208;g3cf8b408c24_0_65" title="Schermata del 2026-03-13 12-53-41.png"/>
          <p:cNvPicPr preferRelativeResize="0"/>
          <p:nvPr/>
        </p:nvPicPr>
        <p:blipFill rotWithShape="1">
          <a:blip r:embed="rId4">
            <a:alphaModFix/>
          </a:blip>
          <a:srcRect b="0" l="0" r="0" t="0"/>
          <a:stretch/>
        </p:blipFill>
        <p:spPr>
          <a:xfrm>
            <a:off x="5930336" y="3279825"/>
            <a:ext cx="2017464" cy="1987240"/>
          </a:xfrm>
          <a:prstGeom prst="rect">
            <a:avLst/>
          </a:prstGeom>
          <a:noFill/>
          <a:ln>
            <a:noFill/>
          </a:ln>
        </p:spPr>
      </p:pic>
      <p:pic>
        <p:nvPicPr>
          <p:cNvPr id="209" name="Google Shape;209;g3cf8b408c24_0_65" title="Schermata del 2026-03-13 12-53-26.png"/>
          <p:cNvPicPr preferRelativeResize="0"/>
          <p:nvPr/>
        </p:nvPicPr>
        <p:blipFill rotWithShape="1">
          <a:blip r:embed="rId5">
            <a:alphaModFix/>
          </a:blip>
          <a:srcRect b="0" l="0" r="0" t="0"/>
          <a:stretch/>
        </p:blipFill>
        <p:spPr>
          <a:xfrm>
            <a:off x="548138" y="3279835"/>
            <a:ext cx="2017464" cy="1987240"/>
          </a:xfrm>
          <a:prstGeom prst="rect">
            <a:avLst/>
          </a:prstGeom>
          <a:noFill/>
          <a:ln>
            <a:noFill/>
          </a:ln>
        </p:spPr>
      </p:pic>
      <p:sp>
        <p:nvSpPr>
          <p:cNvPr id="210" name="Google Shape;210;g3cf8b408c24_0_65"/>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4" name="Shape 214"/>
        <p:cNvGrpSpPr/>
        <p:nvPr/>
      </p:nvGrpSpPr>
      <p:grpSpPr>
        <a:xfrm>
          <a:off x="0" y="0"/>
          <a:ext cx="0" cy="0"/>
          <a:chOff x="0" y="0"/>
          <a:chExt cx="0" cy="0"/>
        </a:xfrm>
      </p:grpSpPr>
      <p:sp>
        <p:nvSpPr>
          <p:cNvPr id="215" name="Google Shape;215;g3cfca16edec_0_29"/>
          <p:cNvSpPr txBox="1"/>
          <p:nvPr>
            <p:ph idx="1" type="body"/>
          </p:nvPr>
        </p:nvSpPr>
        <p:spPr>
          <a:xfrm>
            <a:off x="323528" y="2314972"/>
            <a:ext cx="3816300" cy="4248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it-IT" sz="1800"/>
              <a:t>In caso di eccessiva rotazione o traslazione del supporto in fase di riposizionamento, il programma non sarebbe più in grado di riconoscere le ROI (perchè magari la ROI 1 del video prima finisce al posto della ROI 2 ecc.)</a:t>
            </a:r>
            <a:endParaRPr sz="1800"/>
          </a:p>
          <a:p>
            <a:pPr indent="0" lvl="0" marL="0" rtl="0" algn="l">
              <a:lnSpc>
                <a:spcPct val="100000"/>
              </a:lnSpc>
              <a:spcBef>
                <a:spcPts val="0"/>
              </a:spcBef>
              <a:spcAft>
                <a:spcPts val="0"/>
              </a:spcAft>
              <a:buSzPts val="1400"/>
              <a:buNone/>
            </a:pPr>
            <a:r>
              <a:t/>
            </a:r>
            <a:endParaRPr sz="1800"/>
          </a:p>
          <a:p>
            <a:pPr indent="0" lvl="0" marL="0" rtl="0" algn="l">
              <a:lnSpc>
                <a:spcPct val="100000"/>
              </a:lnSpc>
              <a:spcBef>
                <a:spcPts val="0"/>
              </a:spcBef>
              <a:spcAft>
                <a:spcPts val="0"/>
              </a:spcAft>
              <a:buSzPts val="1400"/>
              <a:buNone/>
            </a:pPr>
            <a:r>
              <a:rPr lang="it-IT" sz="1800"/>
              <a:t>il supporto deve mantenere la stessa posizione e orientamento</a:t>
            </a:r>
            <a:endParaRPr sz="1800"/>
          </a:p>
        </p:txBody>
      </p:sp>
      <p:sp>
        <p:nvSpPr>
          <p:cNvPr id="216" name="Google Shape;216;g3cfca16edec_0_29"/>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Limitazioni (2)</a:t>
            </a:r>
            <a:endParaRPr/>
          </a:p>
        </p:txBody>
      </p:sp>
      <p:sp>
        <p:nvSpPr>
          <p:cNvPr id="217" name="Google Shape;217;g3cfca16edec_0_29"/>
          <p:cNvSpPr/>
          <p:nvPr/>
        </p:nvSpPr>
        <p:spPr>
          <a:xfrm>
            <a:off x="4355976" y="2371293"/>
            <a:ext cx="3816300" cy="41766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8" name="Google Shape;218;g3cfca16edec_0_29"/>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2" name="Shape 222"/>
        <p:cNvGrpSpPr/>
        <p:nvPr/>
      </p:nvGrpSpPr>
      <p:grpSpPr>
        <a:xfrm>
          <a:off x="0" y="0"/>
          <a:ext cx="0" cy="0"/>
          <a:chOff x="0" y="0"/>
          <a:chExt cx="0" cy="0"/>
        </a:xfrm>
      </p:grpSpPr>
      <p:sp>
        <p:nvSpPr>
          <p:cNvPr id="223" name="Google Shape;223;g3cfea706687_0_7"/>
          <p:cNvSpPr txBox="1"/>
          <p:nvPr>
            <p:ph idx="1" type="body"/>
          </p:nvPr>
        </p:nvSpPr>
        <p:spPr>
          <a:xfrm>
            <a:off x="323528" y="2314972"/>
            <a:ext cx="3816300" cy="4248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it-IT" sz="1800"/>
              <a:t>video compresso, informazioni incomplete (il word non corrisponde ai video)</a:t>
            </a:r>
            <a:endParaRPr sz="1800"/>
          </a:p>
        </p:txBody>
      </p:sp>
      <p:sp>
        <p:nvSpPr>
          <p:cNvPr id="224" name="Google Shape;224;g3cfea706687_0_7"/>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Limitazioni (3)</a:t>
            </a:r>
            <a:endParaRPr/>
          </a:p>
        </p:txBody>
      </p:sp>
      <p:sp>
        <p:nvSpPr>
          <p:cNvPr id="225" name="Google Shape;225;g3cfea706687_0_7"/>
          <p:cNvSpPr/>
          <p:nvPr/>
        </p:nvSpPr>
        <p:spPr>
          <a:xfrm>
            <a:off x="4355976" y="2371293"/>
            <a:ext cx="3816300" cy="41766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6" name="Google Shape;226;g3cfea706687_0_7"/>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cf8b408c24_0_24"/>
          <p:cNvSpPr txBox="1"/>
          <p:nvPr>
            <p:ph idx="1" type="body"/>
          </p:nvPr>
        </p:nvSpPr>
        <p:spPr>
          <a:xfrm>
            <a:off x="323522" y="2314975"/>
            <a:ext cx="7848900" cy="4248600"/>
          </a:xfrm>
          <a:prstGeom prst="rect">
            <a:avLst/>
          </a:prstGeom>
          <a:noFill/>
          <a:ln>
            <a:noFill/>
          </a:ln>
        </p:spPr>
        <p:txBody>
          <a:bodyPr anchorCtr="0" anchor="t" bIns="0" lIns="0" spcFirstLastPara="1" rIns="0" wrap="square" tIns="0">
            <a:noAutofit/>
          </a:bodyPr>
          <a:lstStyle/>
          <a:p>
            <a:pPr indent="-342900" lvl="0" marL="457200" marR="0" rtl="0" algn="l">
              <a:lnSpc>
                <a:spcPct val="100000"/>
              </a:lnSpc>
              <a:spcBef>
                <a:spcPts val="0"/>
              </a:spcBef>
              <a:spcAft>
                <a:spcPts val="0"/>
              </a:spcAft>
              <a:buSzPts val="1800"/>
              <a:buChar char="-"/>
            </a:pPr>
            <a:r>
              <a:rPr lang="it-IT" sz="1800"/>
              <a:t>Parametrizzazione più efficace</a:t>
            </a:r>
            <a:endParaRPr sz="1800"/>
          </a:p>
          <a:p>
            <a:pPr indent="-342900" lvl="0" marL="457200" marR="0" rtl="0" algn="l">
              <a:lnSpc>
                <a:spcPct val="100000"/>
              </a:lnSpc>
              <a:spcBef>
                <a:spcPts val="0"/>
              </a:spcBef>
              <a:spcAft>
                <a:spcPts val="0"/>
              </a:spcAft>
              <a:buSzPts val="1800"/>
              <a:buChar char="-"/>
            </a:pPr>
            <a:r>
              <a:rPr lang="it-IT" sz="1800"/>
              <a:t>Implementare diversi algoritmi di segmentazione/allineamento, a partire dalle regioni individuate dall’attuale pipeline</a:t>
            </a:r>
            <a:endParaRPr sz="1800"/>
          </a:p>
          <a:p>
            <a:pPr indent="-342900" lvl="0" marL="457200" marR="0" rtl="0" algn="l">
              <a:lnSpc>
                <a:spcPct val="100000"/>
              </a:lnSpc>
              <a:spcBef>
                <a:spcPts val="0"/>
              </a:spcBef>
              <a:spcAft>
                <a:spcPts val="0"/>
              </a:spcAft>
              <a:buSzPts val="1800"/>
              <a:buChar char="-"/>
            </a:pPr>
            <a:r>
              <a:rPr lang="it-IT" sz="1800"/>
              <a:t>Aggiungere marcatori al supporto per allineamento sicuro, oppure tenere setup fisso</a:t>
            </a:r>
            <a:endParaRPr sz="1800"/>
          </a:p>
          <a:p>
            <a:pPr indent="0" lvl="0" marL="0" marR="0" rtl="0" algn="l">
              <a:lnSpc>
                <a:spcPct val="100000"/>
              </a:lnSpc>
              <a:spcBef>
                <a:spcPts val="0"/>
              </a:spcBef>
              <a:spcAft>
                <a:spcPts val="0"/>
              </a:spcAft>
              <a:buNone/>
            </a:pPr>
            <a:r>
              <a:t/>
            </a:r>
            <a:endParaRPr sz="1800"/>
          </a:p>
        </p:txBody>
      </p:sp>
      <p:sp>
        <p:nvSpPr>
          <p:cNvPr id="232" name="Google Shape;232;g3cf8b408c24_0_24"/>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Sviluppi futuri - Pipeline</a:t>
            </a:r>
            <a:endParaRPr/>
          </a:p>
        </p:txBody>
      </p:sp>
      <p:sp>
        <p:nvSpPr>
          <p:cNvPr id="233" name="Google Shape;233;g3cf8b408c24_0_24"/>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d046eba90f_0_0"/>
          <p:cNvSpPr txBox="1"/>
          <p:nvPr>
            <p:ph idx="1" type="body"/>
          </p:nvPr>
        </p:nvSpPr>
        <p:spPr>
          <a:xfrm>
            <a:off x="323525" y="2314975"/>
            <a:ext cx="4086900" cy="4248600"/>
          </a:xfrm>
          <a:prstGeom prst="rect">
            <a:avLst/>
          </a:prstGeom>
        </p:spPr>
        <p:txBody>
          <a:bodyPr anchorCtr="0" anchor="t" bIns="0" lIns="0" spcFirstLastPara="1" rIns="0" wrap="square" tIns="0">
            <a:noAutofit/>
          </a:bodyPr>
          <a:lstStyle/>
          <a:p>
            <a:pPr indent="0" lvl="0" marL="0" rtl="0" algn="l">
              <a:spcBef>
                <a:spcPts val="280"/>
              </a:spcBef>
              <a:spcAft>
                <a:spcPts val="0"/>
              </a:spcAft>
              <a:buNone/>
            </a:pPr>
            <a:r>
              <a:rPr lang="it-IT" sz="1700"/>
              <a:t>Funzionalità principali previste:</a:t>
            </a:r>
            <a:endParaRPr sz="1700"/>
          </a:p>
          <a:p>
            <a:pPr indent="-336550" lvl="0" marL="457200" rtl="0" algn="l">
              <a:spcBef>
                <a:spcPts val="280"/>
              </a:spcBef>
              <a:spcAft>
                <a:spcPts val="0"/>
              </a:spcAft>
              <a:buSzPts val="1700"/>
              <a:buChar char="-"/>
            </a:pPr>
            <a:r>
              <a:rPr lang="it-IT" sz="1700"/>
              <a:t>Drag &amp; drop video</a:t>
            </a:r>
            <a:endParaRPr sz="1700"/>
          </a:p>
          <a:p>
            <a:pPr indent="-336550" lvl="0" marL="457200" rtl="0" algn="l">
              <a:spcBef>
                <a:spcPts val="0"/>
              </a:spcBef>
              <a:spcAft>
                <a:spcPts val="0"/>
              </a:spcAft>
              <a:buSzPts val="1700"/>
              <a:buChar char="-"/>
            </a:pPr>
            <a:r>
              <a:rPr lang="it-IT" sz="1700"/>
              <a:t>Immagine differenziale</a:t>
            </a:r>
            <a:endParaRPr sz="1700"/>
          </a:p>
          <a:p>
            <a:pPr indent="-336550" lvl="0" marL="457200" rtl="0" algn="l">
              <a:spcBef>
                <a:spcPts val="0"/>
              </a:spcBef>
              <a:spcAft>
                <a:spcPts val="0"/>
              </a:spcAft>
              <a:buSzPts val="1700"/>
              <a:buChar char="-"/>
            </a:pPr>
            <a:r>
              <a:rPr lang="it-IT" sz="1700"/>
              <a:t>Slider per selezionare frequenza</a:t>
            </a:r>
            <a:endParaRPr sz="1700"/>
          </a:p>
        </p:txBody>
      </p:sp>
      <p:sp>
        <p:nvSpPr>
          <p:cNvPr id="240" name="Google Shape;240;g3d046eba90f_0_0"/>
          <p:cNvSpPr txBox="1"/>
          <p:nvPr>
            <p:ph idx="2" type="body"/>
          </p:nvPr>
        </p:nvSpPr>
        <p:spPr>
          <a:xfrm>
            <a:off x="323528" y="1203808"/>
            <a:ext cx="7848900" cy="929100"/>
          </a:xfrm>
          <a:prstGeom prst="rect">
            <a:avLst/>
          </a:prstGeom>
        </p:spPr>
        <p:txBody>
          <a:bodyPr anchorCtr="0" anchor="t" bIns="0" lIns="0" spcFirstLastPara="1" rIns="0" wrap="square" tIns="0">
            <a:noAutofit/>
          </a:bodyPr>
          <a:lstStyle/>
          <a:p>
            <a:pPr indent="0" lvl="0" marL="0" rtl="0" algn="l">
              <a:spcBef>
                <a:spcPts val="540"/>
              </a:spcBef>
              <a:spcAft>
                <a:spcPts val="0"/>
              </a:spcAft>
              <a:buNone/>
            </a:pPr>
            <a:r>
              <a:rPr lang="it-IT"/>
              <a:t>Sviluppi futuri - Graphical User Interface (</a:t>
            </a:r>
            <a:r>
              <a:rPr lang="it-IT"/>
              <a:t>GUI)</a:t>
            </a:r>
            <a:endParaRPr/>
          </a:p>
        </p:txBody>
      </p:sp>
      <p:pic>
        <p:nvPicPr>
          <p:cNvPr id="241" name="Google Shape;241;g3d046eba90f_0_0"/>
          <p:cNvPicPr preferRelativeResize="0"/>
          <p:nvPr/>
        </p:nvPicPr>
        <p:blipFill>
          <a:blip r:embed="rId3">
            <a:alphaModFix/>
          </a:blip>
          <a:stretch>
            <a:fillRect/>
          </a:stretch>
        </p:blipFill>
        <p:spPr>
          <a:xfrm>
            <a:off x="2679150" y="3428997"/>
            <a:ext cx="6155400" cy="3250825"/>
          </a:xfrm>
          <a:prstGeom prst="rect">
            <a:avLst/>
          </a:prstGeom>
          <a:noFill/>
          <a:ln>
            <a:noFill/>
          </a:ln>
        </p:spPr>
      </p:pic>
      <p:sp>
        <p:nvSpPr>
          <p:cNvPr id="242" name="Google Shape;242;g3d046eba90f_0_0"/>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d0ddeebf51_0_0"/>
          <p:cNvSpPr txBox="1"/>
          <p:nvPr>
            <p:ph idx="1" type="body"/>
          </p:nvPr>
        </p:nvSpPr>
        <p:spPr>
          <a:xfrm>
            <a:off x="323525" y="2314975"/>
            <a:ext cx="5997900" cy="4248600"/>
          </a:xfrm>
          <a:prstGeom prst="rect">
            <a:avLst/>
          </a:prstGeom>
        </p:spPr>
        <p:txBody>
          <a:bodyPr anchorCtr="0" anchor="t" bIns="0" lIns="0" spcFirstLastPara="1" rIns="0" wrap="square" tIns="0">
            <a:noAutofit/>
          </a:bodyPr>
          <a:lstStyle/>
          <a:p>
            <a:pPr indent="0" lvl="0" marL="0" rtl="0" algn="l">
              <a:spcBef>
                <a:spcPts val="280"/>
              </a:spcBef>
              <a:spcAft>
                <a:spcPts val="0"/>
              </a:spcAft>
              <a:buNone/>
            </a:pPr>
            <a:r>
              <a:rPr lang="it-IT" sz="1700"/>
              <a:t>Funzioni aggiuntive da definire con UniCt:</a:t>
            </a:r>
            <a:endParaRPr sz="1700"/>
          </a:p>
          <a:p>
            <a:pPr indent="-336550" lvl="0" marL="457200" rtl="0" algn="l">
              <a:spcBef>
                <a:spcPts val="280"/>
              </a:spcBef>
              <a:spcAft>
                <a:spcPts val="0"/>
              </a:spcAft>
              <a:buSzPts val="1700"/>
              <a:buChar char="-"/>
            </a:pPr>
            <a:r>
              <a:rPr lang="it-IT" sz="1700"/>
              <a:t>Confronto singole ROI</a:t>
            </a:r>
            <a:endParaRPr sz="1700"/>
          </a:p>
          <a:p>
            <a:pPr indent="-336550" lvl="0" marL="457200" rtl="0" algn="l">
              <a:spcBef>
                <a:spcPts val="0"/>
              </a:spcBef>
              <a:spcAft>
                <a:spcPts val="0"/>
              </a:spcAft>
              <a:buSzPts val="1700"/>
              <a:buChar char="-"/>
            </a:pPr>
            <a:r>
              <a:rPr lang="it-IT" sz="1700"/>
              <a:t>Opzione per visualizzare contorni/bounding circle</a:t>
            </a:r>
            <a:endParaRPr sz="1700"/>
          </a:p>
          <a:p>
            <a:pPr indent="-336550" lvl="0" marL="457200" rtl="0" algn="l">
              <a:spcBef>
                <a:spcPts val="0"/>
              </a:spcBef>
              <a:spcAft>
                <a:spcPts val="0"/>
              </a:spcAft>
              <a:buSzPts val="1700"/>
              <a:buChar char="-"/>
            </a:pPr>
            <a:r>
              <a:rPr lang="it-IT" sz="1700"/>
              <a:t>Slider parametrizzazione globale/locale (singolo patch)</a:t>
            </a:r>
            <a:endParaRPr sz="1700"/>
          </a:p>
          <a:p>
            <a:pPr indent="-336550" lvl="1" marL="914400" rtl="0" algn="l">
              <a:spcBef>
                <a:spcPts val="0"/>
              </a:spcBef>
              <a:spcAft>
                <a:spcPts val="0"/>
              </a:spcAft>
              <a:buSzPts val="1700"/>
              <a:buChar char="-"/>
            </a:pPr>
            <a:r>
              <a:rPr lang="it-IT" sz="1700"/>
              <a:t>Visualizzazione step intermedi</a:t>
            </a:r>
            <a:endParaRPr sz="1700"/>
          </a:p>
          <a:p>
            <a:pPr indent="-336550" lvl="0" marL="457200" rtl="0" algn="l">
              <a:spcBef>
                <a:spcPts val="0"/>
              </a:spcBef>
              <a:spcAft>
                <a:spcPts val="0"/>
              </a:spcAft>
              <a:buSzPts val="1700"/>
              <a:buChar char="-"/>
            </a:pPr>
            <a:r>
              <a:rPr lang="it-IT" sz="1700"/>
              <a:t>Selezione algoritmo: Canny/Watershed</a:t>
            </a:r>
            <a:endParaRPr sz="1700"/>
          </a:p>
          <a:p>
            <a:pPr indent="-336550" lvl="0" marL="457200" rtl="0" algn="l">
              <a:spcBef>
                <a:spcPts val="0"/>
              </a:spcBef>
              <a:spcAft>
                <a:spcPts val="0"/>
              </a:spcAft>
              <a:buSzPts val="1700"/>
              <a:buChar char="-"/>
            </a:pPr>
            <a:r>
              <a:rPr lang="it-IT" sz="1700"/>
              <a:t>Selezione centro e raggio manuale</a:t>
            </a:r>
            <a:endParaRPr sz="1700"/>
          </a:p>
        </p:txBody>
      </p:sp>
      <p:sp>
        <p:nvSpPr>
          <p:cNvPr id="249" name="Google Shape;249;g3d0ddeebf51_0_0"/>
          <p:cNvSpPr txBox="1"/>
          <p:nvPr>
            <p:ph idx="2" type="body"/>
          </p:nvPr>
        </p:nvSpPr>
        <p:spPr>
          <a:xfrm>
            <a:off x="323528" y="1203808"/>
            <a:ext cx="7848900" cy="929100"/>
          </a:xfrm>
          <a:prstGeom prst="rect">
            <a:avLst/>
          </a:prstGeom>
        </p:spPr>
        <p:txBody>
          <a:bodyPr anchorCtr="0" anchor="t" bIns="0" lIns="0" spcFirstLastPara="1" rIns="0" wrap="square" tIns="0">
            <a:noAutofit/>
          </a:bodyPr>
          <a:lstStyle/>
          <a:p>
            <a:pPr indent="0" lvl="0" marL="0" rtl="0" algn="l">
              <a:spcBef>
                <a:spcPts val="540"/>
              </a:spcBef>
              <a:spcAft>
                <a:spcPts val="0"/>
              </a:spcAft>
              <a:buNone/>
            </a:pPr>
            <a:r>
              <a:rPr lang="it-IT"/>
              <a:t>Sviluppi futuri - Graphical User Interface (GUI)</a:t>
            </a:r>
            <a:endParaRPr/>
          </a:p>
        </p:txBody>
      </p:sp>
      <p:sp>
        <p:nvSpPr>
          <p:cNvPr id="250" name="Google Shape;250;g3d0ddeebf51_0_0"/>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d046eba90f_0_6"/>
          <p:cNvSpPr txBox="1"/>
          <p:nvPr>
            <p:ph idx="1" type="body"/>
          </p:nvPr>
        </p:nvSpPr>
        <p:spPr>
          <a:xfrm>
            <a:off x="323525" y="2314975"/>
            <a:ext cx="3208200" cy="4248600"/>
          </a:xfrm>
          <a:prstGeom prst="rect">
            <a:avLst/>
          </a:prstGeom>
        </p:spPr>
        <p:txBody>
          <a:bodyPr anchorCtr="0" anchor="t" bIns="0" lIns="0" spcFirstLastPara="1" rIns="0" wrap="square" tIns="0">
            <a:noAutofit/>
          </a:bodyPr>
          <a:lstStyle/>
          <a:p>
            <a:pPr indent="0" lvl="0" marL="0" rtl="0" algn="l">
              <a:spcBef>
                <a:spcPts val="280"/>
              </a:spcBef>
              <a:spcAft>
                <a:spcPts val="0"/>
              </a:spcAft>
              <a:buNone/>
            </a:pPr>
            <a:r>
              <a:rPr lang="it-IT" sz="1800"/>
              <a:t>incremento della sensibilità del sistema, tramite analisi pixel-pixel</a:t>
            </a:r>
            <a:endParaRPr sz="1800"/>
          </a:p>
        </p:txBody>
      </p:sp>
      <p:pic>
        <p:nvPicPr>
          <p:cNvPr id="257" name="Google Shape;257;g3d046eba90f_0_6" title="Schermata del 2026-03-13 11-28-26.png"/>
          <p:cNvPicPr preferRelativeResize="0"/>
          <p:nvPr/>
        </p:nvPicPr>
        <p:blipFill>
          <a:blip r:embed="rId3">
            <a:alphaModFix/>
          </a:blip>
          <a:stretch>
            <a:fillRect/>
          </a:stretch>
        </p:blipFill>
        <p:spPr>
          <a:xfrm>
            <a:off x="8359788" y="4197863"/>
            <a:ext cx="504825" cy="2505075"/>
          </a:xfrm>
          <a:prstGeom prst="rect">
            <a:avLst/>
          </a:prstGeom>
          <a:noFill/>
          <a:ln>
            <a:noFill/>
          </a:ln>
        </p:spPr>
      </p:pic>
      <p:sp>
        <p:nvSpPr>
          <p:cNvPr id="258" name="Google Shape;258;g3d046eba90f_0_6"/>
          <p:cNvSpPr txBox="1"/>
          <p:nvPr>
            <p:ph idx="2" type="body"/>
          </p:nvPr>
        </p:nvSpPr>
        <p:spPr>
          <a:xfrm>
            <a:off x="323528" y="1203808"/>
            <a:ext cx="7848900" cy="929100"/>
          </a:xfrm>
          <a:prstGeom prst="rect">
            <a:avLst/>
          </a:prstGeom>
        </p:spPr>
        <p:txBody>
          <a:bodyPr anchorCtr="0" anchor="t" bIns="0" lIns="0" spcFirstLastPara="1" rIns="0" wrap="square" tIns="0">
            <a:noAutofit/>
          </a:bodyPr>
          <a:lstStyle/>
          <a:p>
            <a:pPr indent="0" lvl="0" marL="0" rtl="0" algn="l">
              <a:spcBef>
                <a:spcPts val="540"/>
              </a:spcBef>
              <a:spcAft>
                <a:spcPts val="0"/>
              </a:spcAft>
              <a:buNone/>
            </a:pPr>
            <a:r>
              <a:rPr lang="it-IT"/>
              <a:t>Sviluppi futuri - Machine Learning</a:t>
            </a:r>
            <a:endParaRPr/>
          </a:p>
        </p:txBody>
      </p:sp>
      <p:pic>
        <p:nvPicPr>
          <p:cNvPr id="259" name="Google Shape;259;g3d046eba90f_0_6"/>
          <p:cNvPicPr preferRelativeResize="0"/>
          <p:nvPr/>
        </p:nvPicPr>
        <p:blipFill>
          <a:blip r:embed="rId4">
            <a:alphaModFix/>
          </a:blip>
          <a:stretch>
            <a:fillRect/>
          </a:stretch>
        </p:blipFill>
        <p:spPr>
          <a:xfrm>
            <a:off x="3873525" y="2314975"/>
            <a:ext cx="4991101" cy="4120449"/>
          </a:xfrm>
          <a:prstGeom prst="rect">
            <a:avLst/>
          </a:prstGeom>
          <a:noFill/>
          <a:ln>
            <a:noFill/>
          </a:ln>
        </p:spPr>
      </p:pic>
      <p:sp>
        <p:nvSpPr>
          <p:cNvPr id="260" name="Google Shape;260;g3d046eba90f_0_6"/>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cf8b408c24_0_30"/>
          <p:cNvSpPr txBox="1"/>
          <p:nvPr>
            <p:ph idx="1" type="body"/>
          </p:nvPr>
        </p:nvSpPr>
        <p:spPr>
          <a:xfrm>
            <a:off x="323528" y="2314972"/>
            <a:ext cx="3816300" cy="424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Arial"/>
              <a:buNone/>
            </a:pPr>
            <a:r>
              <a:rPr lang="it-IT" sz="1800"/>
              <a:t>Grazie per l’attenzione</a:t>
            </a:r>
            <a:endParaRPr sz="1800"/>
          </a:p>
        </p:txBody>
      </p:sp>
      <p:sp>
        <p:nvSpPr>
          <p:cNvPr id="266" name="Google Shape;266;g3cf8b408c24_0_30"/>
          <p:cNvSpPr txBox="1"/>
          <p:nvPr>
            <p:ph idx="2" type="body"/>
          </p:nvPr>
        </p:nvSpPr>
        <p:spPr>
          <a:xfrm>
            <a:off x="323528" y="1203808"/>
            <a:ext cx="7848900" cy="92910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69A425"/>
              </a:buClr>
              <a:buSzPts val="2700"/>
              <a:buFont typeface="Arial"/>
              <a:buNone/>
            </a:pPr>
            <a:r>
              <a:rPr lang="it-IT"/>
              <a:t>Domande?</a:t>
            </a:r>
            <a:endParaRPr/>
          </a:p>
        </p:txBody>
      </p:sp>
      <p:sp>
        <p:nvSpPr>
          <p:cNvPr id="267" name="Google Shape;267;g3cf8b408c24_0_30"/>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PT_StudentKit_DTI">
  <a:themeElements>
    <a:clrScheme name="SUPSI 1">
      <a:dk1>
        <a:srgbClr val="000000"/>
      </a:dk1>
      <a:lt1>
        <a:srgbClr val="FFFFFF"/>
      </a:lt1>
      <a:dk2>
        <a:srgbClr val="141C64"/>
      </a:dk2>
      <a:lt2>
        <a:srgbClr val="FFFFFF"/>
      </a:lt2>
      <a:accent1>
        <a:srgbClr val="141C78"/>
      </a:accent1>
      <a:accent2>
        <a:srgbClr val="2838C8"/>
      </a:accent2>
      <a:accent3>
        <a:srgbClr val="0063C8"/>
      </a:accent3>
      <a:accent4>
        <a:srgbClr val="0096FF"/>
      </a:accent4>
      <a:accent5>
        <a:srgbClr val="46A01E"/>
      </a:accent5>
      <a:accent6>
        <a:srgbClr val="8CD23C"/>
      </a:accent6>
      <a:hlink>
        <a:srgbClr val="000000"/>
      </a:hlink>
      <a:folHlink>
        <a:srgbClr val="64646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2012-06-06T06:29:02Z</dcterms:created>
  <dc:creator>giofre</dc:creator>
</cp:coreProperties>
</file>